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recording: replace every amber [FILL] box in slides 6, 7, 8, 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0:00–0:30</a:t>
            </a:r>
          </a:p>
          <a:p>
            <a:r>
              <a:t>[Face in corner. Screen: title slide, then the authors' repo `github.com/KevinSRR/REPaL` beside your fork `github.com/ManoharNaidu/REPaL`.]</a:t>
            </a:r>
          </a:p>
          <a:p/>
          <a:p>
            <a:r>
              <a:t>Hi, I'm Manohar, and this is my COMP8240 project update. I'm reproducing and extending REPaL, an EMNLP 2024 paper by Zhou and colleagues at the University of Illinois and the University of Virginia. It does zero-shot relation extraction: finding the relation between two entities in a sentence, using only a written definition of the relation and no labelled examples. I chose it because the authors released their code and data, and it can be pointed at new domains.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0:30–1:15</a:t>
            </a:r>
          </a:p>
          <a:p>
            <a:r>
              <a:t>[Screen: a slide with FewRel and WikiZSL.]</a:t>
            </a:r>
          </a:p>
          <a:p/>
          <a:p>
            <a:r>
              <a:t>The paper tests on two datasets built from existing resources. DefOn-FewRel comes from FewRel, eighty relations over Wikipedia sentences, where the authors hold out five groups of relations as test sets. DefOn-WikiZSL comes from WikiZSL, built from Wikidata, with three groups of fifteen relations. Each comes with a large pool of unlabelled sentences. The results are precision, recall and F1: each test relation is treated in turn as the target, the other test relations act as negatives, and the scores are averaged.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1:15–2:45 (part 1)</a:t>
            </a:r>
          </a:p>
          <a:p>
            <a:r>
              <a:t>[Screen: architecture slide first (three boxes: language model writes examples, small model is trained, feedback round), then the terminal.]</a:t>
            </a:r>
          </a:p>
          <a:p/>
          <a:p>
            <a:r>
              <a:t>REPaL has three steps. First, a large language model, GPT-4o in the paper, reads the relation definition and writes example sentences with the two entities tagged. Second, a small model, RoBERTa-large fine-tuned for natural language inference, learns from those examples to judge whether a sentence matches the definition. Third, a feedback round: the small model labels unlabelled sentences, a sample of its predictions goes back to the language model, which writes new examples and new negative definitions aimed at the model's mistakes, and the small model is retrained. No human-labelled training data is used.</a:t>
            </a:r>
          </a:p>
          <a:p/>
          <a:p>
            <a:r>
              <a:t>The authors published their code on GitHub, and I forked it. Their shell scripts had placeholders, so I wrote one Python driver that runs every split and collects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1:15–2:45 (part 2)</a:t>
            </a:r>
          </a:p>
          <a:p>
            <a:r>
              <a:t>[Terminal: run the pre-typed `--dry-run`, then `tail`, then `cat metrics.json`.]</a:t>
            </a:r>
          </a:p>
          <a:p/>
          <a:p>
            <a:r>
              <a:t>This is the command, the training log, and the final precision, recall and F1 for one split. It's a finished run, because one split takes hours.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2:45–3:30</a:t>
            </a:r>
          </a:p>
          <a:p>
            <a:r>
              <a:t>[Screen: results slide, FewRel and WikiZSL rows highlighted.]</a:t>
            </a:r>
          </a:p>
          <a:p/>
          <a:p>
            <a:r>
              <a:t>The code works. I ran it on rented cloud GPUs: [FILL: GPU model, Python version, PyTorch version]. All eight splits finished, using the authors' cached GPT-4o examples. "Initial" is the first stage of the pipeline; "follow-up" adds the feedback round, and that is the number the paper reports. On FewRel I get 69.6 F1 against the paper's 74.6, and on WikiZSL 45.9 against 47.8. So FewRel is about five points lower and WikiZSL is close. Feedback helps on FewRel but not on WikiZSL, and results vary a lot between splits.</a:t>
            </a:r>
          </a:p>
          <a:p/>
          <a:p>
            <a:r>
              <a:t>[OPTIONAL, only after you confirm your `initial` stage is the paper's no-feedback stage: "In the paper, one feedback round adds about 4.6 F1 on FewRel. In my runs it adds about 4.7."]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3:30–4:20</a:t>
            </a:r>
          </a:p>
          <a:p>
            <a:r>
              <a:t>[Screen: results slide, SemEval and NYT rows; then a SemEval example sentence.]</a:t>
            </a:r>
          </a:p>
          <a:p/>
          <a:p>
            <a:r>
              <a:t>For new data I use two existing datasets and one I'm building. The existing ones are SemEval-2010 Task 8 and NYT, both from FewRel 2.0, which I converted to REPaL's format. SemEval has 8,851 sentences and 17 directed relations, such as cause-effect, with the "Other" class removed. NYT has [FILL: N] sentences and [FILL: K] relations. My OpenAI credits ran out, so these runs use a local Qwen model instead of GPT-4o. On SemEval, F1 is 19, rising to 31 with feedback; on NYT it is about 47. The SemEval problem is low recall, not mixed-up relation directions. My proposal also listed BioCreative CDR. I did not use it; I ran NYT instead, which is in the same FewRel 2.0 format as SemEval.</a:t>
            </a:r>
          </a:p>
          <a:p/>
          <a:p>
            <a:r>
              <a:t>[CDR sentences: the default is facts only. If you find a real reason in your notes or git history, replace the first clause of the last sentence with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4:20–4:50</a:t>
            </a:r>
          </a:p>
          <a:p>
            <a:r>
              <a:t>[Screen: `arxiv_re/README.md` counts table, then the annotation sheet.]</a:t>
            </a:r>
          </a:p>
          <a:p/>
          <a:p>
            <a:r>
              <a:t>My own dataset is on scientific papers. I collected 397 arXiv abstracts from five categories, using the official API, and split them into about 2,850 sentences. I defined six relations, such as evaluated-on, outperforms and builds-on, and prepared a 100-sentence annotation sheet. So far I have labelled [FILL: N] sentences. The hard part is finding entities in scientific text without a trained tagger.</a:t>
            </a:r>
          </a:p>
          <a:p/>
          <a:p>
            <a:r>
              <a:t>[If you have labelled none, replace the "So far I have labelled" sentence with: "The annotation sheet is ready, and labelling starts next."]</a:t>
            </a:r>
          </a:p>
          <a:p/>
          <a:p>
            <a:r>
              <a:t>[Add ONE sentence if true: "A second annotator has labelled [M] of the same sentences, and agreement is kappa [X]." OR "A second annotator will label the same sentences next, and kappa will follow."]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4:50–5:00</a:t>
            </a:r>
          </a:p>
          <a:p>
            <a:r>
              <a:t>[Face in corner, back to the title slide.]</a:t>
            </a:r>
          </a:p>
          <a:p/>
          <a:p>
            <a:r>
              <a:t>To sum up: the replication works, two extra datasets are done, and my own dataset is built and [FILL: partly labelled / ready to label]. Next, I'll finish annotating and run REPaL on it. Thanks for watching.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backup — not for the 5-minute recording</a:t>
            </a:r>
          </a:p>
          <a:p>
            <a:r>
              <a:t>- Why local Qwen: the OpenAI credits ran out. SemEval and NYT used Qwen2.5-32B; one SemEval comparison used Qwen3-32B (25.1 initial, 19.6 follow-up). An archived GPT-4o SemEval run reached 35.7 at the initial stage and stopped when credits ran out. That hints that the generating model matters, but these are single runs.</a:t>
            </a:r>
          </a:p>
          <a:p>
            <a:r>
              <a:t>- 26 runs finished without errors. `nyt_qwen3` was not run, on purpose.</a:t>
            </a:r>
          </a:p>
          <a:p>
            <a:r>
              <a:t>- Why F1 (19) looks low next to precision (45) and recall (20): the paper averages precision, recall and F1 over the test iterations, so mean F1 is not the F1 of the mean precision and recall.</a:t>
            </a:r>
          </a:p>
          <a:p>
            <a:r>
              <a:t>- Why a Python driver: the original shell scripts had placeholders (confirm from the repo).</a:t>
            </a:r>
          </a:p>
          <a:p>
            <a:r>
              <a:t>- Newer PyTorch: your project notes say newer GPUs need a newer PyTorch build than the authors pinned. Confirm before saying it.</a:t>
            </a:r>
          </a:p>
          <a:p>
            <a:r>
              <a:t>- SemEval hypothesis (untested): model-written examples use longer entity phrases (about 4-5 tokens) than SemEval's single-word entities.</a:t>
            </a:r>
          </a:p>
          <a:p>
            <a:r>
              <a:t>- Pool size: the paper down-samples 10,000 unlabelled instances per test group (section 4.1). Your project notes say the released data uses a 100k pool. The 10k experiment (71.6 initial, 68.1 follow-up on two splits) mixes cached GPT-4o seeds with Qwen follow-up, so it is not a clean comparison.</a:t>
            </a:r>
          </a:p>
          <a:p>
            <a:r>
              <a:t>- Group sizes (paper): 5 groups of 14 FewRel relations and 3 groups of 15 WikiZSL relations.</a:t>
            </a:r>
          </a:p>
          <a:p>
            <a:r>
              <a:t>- Not done yet: finishing annotation, REPaL on the arXiv set, and the LLM-as-a-judge evaluation from the proposal.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525"/>
        </a:solidFill>
        <a:effectLst/>
      </p:bgPr>
    </p:bg>
    <p:spTree>
      <p:nvGrpSpPr>
        <p:cNvPr id="1" name=""/>
        <p:cNvGrpSpPr/>
        <p:nvPr/>
      </p:nvGrpSpPr>
      <p:grpSpPr/>
      <p:sp>
        <p:nvSpPr>
          <p:cNvPr id="2" name="Rectangle 1"/>
          <p:cNvSpPr/>
          <p:nvPr/>
        </p:nvSpPr>
        <p:spPr>
          <a:xfrm>
            <a:off x="548640" y="1828800"/>
            <a:ext cx="1097280" cy="73152"/>
          </a:xfrm>
          <a:prstGeom prst="rect">
            <a:avLst/>
          </a:prstGeom>
          <a:solidFill>
            <a:srgbClr val="4C8BF5"/>
          </a:solidFill>
          <a:ln>
            <a:noFill/>
          </a:ln>
          <a:effectLst/>
        </p:spPr>
        <p:txBody>
          <a:bodyPr rtlCol="0" anchor="ctr"/>
          <a:lstStyle/>
          <a:p>
            <a:pPr algn="ctr"/>
          </a:p>
        </p:txBody>
      </p:sp>
      <p:sp>
        <p:nvSpPr>
          <p:cNvPr id="3" name="TextBox 2"/>
          <p:cNvSpPr txBox="1"/>
          <p:nvPr/>
        </p:nvSpPr>
        <p:spPr>
          <a:xfrm>
            <a:off x="548640" y="2103120"/>
            <a:ext cx="11094415" cy="2103120"/>
          </a:xfrm>
          <a:prstGeom prst="rect">
            <a:avLst/>
          </a:prstGeom>
          <a:noFill/>
        </p:spPr>
        <p:txBody>
          <a:bodyPr wrap="square" lIns="0" rIns="0" tIns="0" bIns="0">
            <a:spAutoFit/>
          </a:bodyPr>
          <a:lstStyle/>
          <a:p>
            <a:pPr>
              <a:lnSpc>
                <a:spcPct val="100000"/>
              </a:lnSpc>
            </a:pPr>
            <a:r>
              <a:rPr sz="4800" b="1">
                <a:solidFill>
                  <a:srgbClr val="E6ECF5"/>
                </a:solidFill>
                <a:latin typeface="Calibri"/>
              </a:rPr>
              <a:t>REPaL: Reproduction and Extension —</a:t>
            </a:r>
            <a:br/>
            <a:r>
              <a:rPr sz="4800" b="1">
                <a:solidFill>
                  <a:srgbClr val="E6ECF5"/>
                </a:solidFill>
                <a:latin typeface="Calibri"/>
              </a:rPr>
              <a:t>Zero-Shot Relation Extraction</a:t>
            </a:r>
          </a:p>
        </p:txBody>
      </p:sp>
      <p:cxnSp>
        <p:nvCxnSpPr>
          <p:cNvPr id="4" name="Connector 3"/>
          <p:cNvCxnSpPr/>
          <p:nvPr/>
        </p:nvCxnSpPr>
        <p:spPr>
          <a:xfrm>
            <a:off x="548640" y="4434840"/>
            <a:ext cx="11094415" cy="0"/>
          </a:xfrm>
          <a:prstGeom prst="line">
            <a:avLst/>
          </a:prstGeom>
          <a:ln w="12700">
            <a:solidFill>
              <a:srgbClr val="4C8BF5"/>
            </a:solidFill>
          </a:ln>
        </p:spPr>
      </p:cxnSp>
      <p:sp>
        <p:nvSpPr>
          <p:cNvPr id="5" name="TextBox 4"/>
          <p:cNvSpPr txBox="1"/>
          <p:nvPr/>
        </p:nvSpPr>
        <p:spPr>
          <a:xfrm>
            <a:off x="548640" y="4617720"/>
            <a:ext cx="11094415" cy="822960"/>
          </a:xfrm>
          <a:prstGeom prst="rect">
            <a:avLst/>
          </a:prstGeom>
          <a:noFill/>
        </p:spPr>
        <p:txBody>
          <a:bodyPr wrap="square" anchor="t" lIns="0" rIns="0" tIns="0" bIns="0">
            <a:spAutoFit/>
          </a:bodyPr>
          <a:lstStyle/>
          <a:p>
            <a:pPr algn="l">
              <a:lnSpc>
                <a:spcPct val="105000"/>
              </a:lnSpc>
            </a:pPr>
            <a:r>
              <a:rPr sz="2200" b="0" i="0">
                <a:solidFill>
                  <a:srgbClr val="9AA6B8"/>
                </a:solidFill>
                <a:latin typeface="Calibri"/>
              </a:rPr>
              <a:t>COMP8240 Project Update — Manohar Naidu Bheesetti — 2026-10-10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640080"/>
          </a:xfrm>
          <a:prstGeom prst="rect">
            <a:avLst/>
          </a:prstGeom>
          <a:noFill/>
        </p:spPr>
        <p:txBody>
          <a:bodyPr wrap="square" anchor="ctr" lIns="0" rIns="0" tIns="0" bIns="0">
            <a:spAutoFit/>
          </a:bodyPr>
          <a:lstStyle/>
          <a:p>
            <a:pPr algn="l">
              <a:lnSpc>
                <a:spcPct val="105000"/>
              </a:lnSpc>
            </a:pPr>
            <a:r>
              <a:rPr sz="3400" b="1" i="0">
                <a:solidFill>
                  <a:srgbClr val="1B2430"/>
                </a:solidFill>
                <a:latin typeface="Calibri"/>
              </a:rPr>
              <a:t>Reproducing and Extending REPaL</a:t>
            </a:r>
          </a:p>
        </p:txBody>
      </p:sp>
      <p:cxnSp>
        <p:nvCxnSpPr>
          <p:cNvPr id="3" name="Connector 2"/>
          <p:cNvCxnSpPr/>
          <p:nvPr/>
        </p:nvCxnSpPr>
        <p:spPr>
          <a:xfrm>
            <a:off x="548640" y="1234440"/>
            <a:ext cx="11094415" cy="0"/>
          </a:xfrm>
          <a:prstGeom prst="line">
            <a:avLst/>
          </a:prstGeom>
          <a:ln w="12700">
            <a:solidFill>
              <a:srgbClr val="4C8BF5"/>
            </a:solidFill>
          </a:ln>
        </p:spPr>
      </p:cxnSp>
      <p:sp>
        <p:nvSpPr>
          <p:cNvPr id="4" name="TextBox 3"/>
          <p:cNvSpPr txBox="1"/>
          <p:nvPr/>
        </p:nvSpPr>
        <p:spPr>
          <a:xfrm>
            <a:off x="10911535" y="6126480"/>
            <a:ext cx="731520" cy="274320"/>
          </a:xfrm>
          <a:prstGeom prst="rect">
            <a:avLst/>
          </a:prstGeom>
          <a:noFill/>
        </p:spPr>
        <p:txBody>
          <a:bodyPr wrap="square" anchor="ctr" lIns="0" rIns="0" tIns="0" bIns="0">
            <a:spAutoFit/>
          </a:bodyPr>
          <a:lstStyle/>
          <a:p>
            <a:pPr algn="r">
              <a:lnSpc>
                <a:spcPct val="105000"/>
              </a:lnSpc>
            </a:pPr>
            <a:r>
              <a:rPr sz="1600" b="0" i="0">
                <a:solidFill>
                  <a:srgbClr val="6B7684"/>
                </a:solidFill>
                <a:latin typeface="Calibri"/>
              </a:rPr>
              <a:t>2</a:t>
            </a:r>
          </a:p>
        </p:txBody>
      </p:sp>
      <p:sp>
        <p:nvSpPr>
          <p:cNvPr id="5" name="Rectangle 4"/>
          <p:cNvSpPr/>
          <p:nvPr/>
        </p:nvSpPr>
        <p:spPr>
          <a:xfrm>
            <a:off x="548640" y="1737360"/>
            <a:ext cx="64008" cy="914400"/>
          </a:xfrm>
          <a:prstGeom prst="rect">
            <a:avLst/>
          </a:prstGeom>
          <a:solidFill>
            <a:srgbClr val="4C8BF5"/>
          </a:solidFill>
          <a:ln>
            <a:noFill/>
          </a:ln>
          <a:effectLst/>
        </p:spPr>
        <p:txBody>
          <a:bodyPr rtlCol="0" anchor="ctr"/>
          <a:lstStyle/>
          <a:p>
            <a:pPr algn="ctr"/>
          </a:p>
        </p:txBody>
      </p:sp>
      <p:sp>
        <p:nvSpPr>
          <p:cNvPr id="6" name="TextBox 5"/>
          <p:cNvSpPr txBox="1"/>
          <p:nvPr/>
        </p:nvSpPr>
        <p:spPr>
          <a:xfrm>
            <a:off x="822959" y="1691639"/>
            <a:ext cx="6675120" cy="365760"/>
          </a:xfrm>
          <a:prstGeom prst="rect">
            <a:avLst/>
          </a:prstGeom>
          <a:noFill/>
        </p:spPr>
        <p:txBody>
          <a:bodyPr wrap="square" anchor="t" lIns="0" rIns="0" tIns="0" bIns="0">
            <a:spAutoFit/>
          </a:bodyPr>
          <a:lstStyle/>
          <a:p>
            <a:pPr algn="l">
              <a:lnSpc>
                <a:spcPct val="105000"/>
              </a:lnSpc>
            </a:pPr>
            <a:r>
              <a:rPr sz="1600" b="1" i="0">
                <a:solidFill>
                  <a:srgbClr val="4C8BF5"/>
                </a:solidFill>
                <a:latin typeface="Calibri"/>
              </a:rPr>
              <a:t>PAPER</a:t>
            </a:r>
          </a:p>
        </p:txBody>
      </p:sp>
      <p:sp>
        <p:nvSpPr>
          <p:cNvPr id="7" name="TextBox 6"/>
          <p:cNvSpPr txBox="1"/>
          <p:nvPr/>
        </p:nvSpPr>
        <p:spPr>
          <a:xfrm>
            <a:off x="822959" y="2075688"/>
            <a:ext cx="6675120" cy="731520"/>
          </a:xfrm>
          <a:prstGeom prst="rect">
            <a:avLst/>
          </a:prstGeom>
          <a:noFill/>
        </p:spPr>
        <p:txBody>
          <a:bodyPr wrap="square" anchor="t" lIns="0" rIns="0" tIns="0" bIns="0">
            <a:spAutoFit/>
          </a:bodyPr>
          <a:lstStyle/>
          <a:p>
            <a:pPr algn="l">
              <a:lnSpc>
                <a:spcPct val="105000"/>
              </a:lnSpc>
            </a:pPr>
            <a:r>
              <a:rPr sz="2200" b="0" i="0">
                <a:solidFill>
                  <a:srgbClr val="1B2430"/>
                </a:solidFill>
                <a:latin typeface="Calibri"/>
              </a:rPr>
              <a:t>EMNLP 2024 · Zhou et al. · UIUC + UVA</a:t>
            </a:r>
          </a:p>
        </p:txBody>
      </p:sp>
      <p:sp>
        <p:nvSpPr>
          <p:cNvPr id="8" name="Rectangle 7"/>
          <p:cNvSpPr/>
          <p:nvPr/>
        </p:nvSpPr>
        <p:spPr>
          <a:xfrm>
            <a:off x="548640" y="3200400"/>
            <a:ext cx="64008" cy="914400"/>
          </a:xfrm>
          <a:prstGeom prst="rect">
            <a:avLst/>
          </a:prstGeom>
          <a:solidFill>
            <a:srgbClr val="4C8BF5"/>
          </a:solidFill>
          <a:ln>
            <a:noFill/>
          </a:ln>
          <a:effectLst/>
        </p:spPr>
        <p:txBody>
          <a:bodyPr rtlCol="0" anchor="ctr"/>
          <a:lstStyle/>
          <a:p>
            <a:pPr algn="ctr"/>
          </a:p>
        </p:txBody>
      </p:sp>
      <p:sp>
        <p:nvSpPr>
          <p:cNvPr id="9" name="TextBox 8"/>
          <p:cNvSpPr txBox="1"/>
          <p:nvPr/>
        </p:nvSpPr>
        <p:spPr>
          <a:xfrm>
            <a:off x="822959" y="3154680"/>
            <a:ext cx="6675120" cy="365760"/>
          </a:xfrm>
          <a:prstGeom prst="rect">
            <a:avLst/>
          </a:prstGeom>
          <a:noFill/>
        </p:spPr>
        <p:txBody>
          <a:bodyPr wrap="square" anchor="t" lIns="0" rIns="0" tIns="0" bIns="0">
            <a:spAutoFit/>
          </a:bodyPr>
          <a:lstStyle/>
          <a:p>
            <a:pPr algn="l">
              <a:lnSpc>
                <a:spcPct val="105000"/>
              </a:lnSpc>
            </a:pPr>
            <a:r>
              <a:rPr sz="1600" b="1" i="0">
                <a:solidFill>
                  <a:srgbClr val="4C8BF5"/>
                </a:solidFill>
                <a:latin typeface="Calibri"/>
              </a:rPr>
              <a:t>TASK</a:t>
            </a:r>
          </a:p>
        </p:txBody>
      </p:sp>
      <p:sp>
        <p:nvSpPr>
          <p:cNvPr id="10" name="TextBox 9"/>
          <p:cNvSpPr txBox="1"/>
          <p:nvPr/>
        </p:nvSpPr>
        <p:spPr>
          <a:xfrm>
            <a:off x="822959" y="3538728"/>
            <a:ext cx="6675120" cy="731520"/>
          </a:xfrm>
          <a:prstGeom prst="rect">
            <a:avLst/>
          </a:prstGeom>
          <a:noFill/>
        </p:spPr>
        <p:txBody>
          <a:bodyPr wrap="square" anchor="t" lIns="0" rIns="0" tIns="0" bIns="0">
            <a:spAutoFit/>
          </a:bodyPr>
          <a:lstStyle/>
          <a:p>
            <a:pPr algn="l">
              <a:lnSpc>
                <a:spcPct val="105000"/>
              </a:lnSpc>
            </a:pPr>
            <a:r>
              <a:rPr sz="2200" b="0" i="0">
                <a:solidFill>
                  <a:srgbClr val="1B2430"/>
                </a:solidFill>
                <a:latin typeface="Calibri"/>
              </a:rPr>
              <a:t>Zero-shot relation extraction from a written definition</a:t>
            </a:r>
          </a:p>
        </p:txBody>
      </p:sp>
      <p:sp>
        <p:nvSpPr>
          <p:cNvPr id="11" name="Rectangle 10"/>
          <p:cNvSpPr/>
          <p:nvPr/>
        </p:nvSpPr>
        <p:spPr>
          <a:xfrm>
            <a:off x="548640" y="4663440"/>
            <a:ext cx="64008" cy="914400"/>
          </a:xfrm>
          <a:prstGeom prst="rect">
            <a:avLst/>
          </a:prstGeom>
          <a:solidFill>
            <a:srgbClr val="4C8BF5"/>
          </a:solidFill>
          <a:ln>
            <a:noFill/>
          </a:ln>
          <a:effectLst/>
        </p:spPr>
        <p:txBody>
          <a:bodyPr rtlCol="0" anchor="ctr"/>
          <a:lstStyle/>
          <a:p>
            <a:pPr algn="ctr"/>
          </a:p>
        </p:txBody>
      </p:sp>
      <p:sp>
        <p:nvSpPr>
          <p:cNvPr id="12" name="TextBox 11"/>
          <p:cNvSpPr txBox="1"/>
          <p:nvPr/>
        </p:nvSpPr>
        <p:spPr>
          <a:xfrm>
            <a:off x="822959" y="4617720"/>
            <a:ext cx="6675120" cy="365760"/>
          </a:xfrm>
          <a:prstGeom prst="rect">
            <a:avLst/>
          </a:prstGeom>
          <a:noFill/>
        </p:spPr>
        <p:txBody>
          <a:bodyPr wrap="square" anchor="t" lIns="0" rIns="0" tIns="0" bIns="0">
            <a:spAutoFit/>
          </a:bodyPr>
          <a:lstStyle/>
          <a:p>
            <a:pPr algn="l">
              <a:lnSpc>
                <a:spcPct val="105000"/>
              </a:lnSpc>
            </a:pPr>
            <a:r>
              <a:rPr sz="1600" b="1" i="0">
                <a:solidFill>
                  <a:srgbClr val="4C8BF5"/>
                </a:solidFill>
                <a:latin typeface="Calibri"/>
              </a:rPr>
              <a:t>WHY CHOSEN</a:t>
            </a:r>
          </a:p>
        </p:txBody>
      </p:sp>
      <p:sp>
        <p:nvSpPr>
          <p:cNvPr id="13" name="TextBox 12"/>
          <p:cNvSpPr txBox="1"/>
          <p:nvPr/>
        </p:nvSpPr>
        <p:spPr>
          <a:xfrm>
            <a:off x="822959" y="5001768"/>
            <a:ext cx="6675120" cy="731520"/>
          </a:xfrm>
          <a:prstGeom prst="rect">
            <a:avLst/>
          </a:prstGeom>
          <a:noFill/>
        </p:spPr>
        <p:txBody>
          <a:bodyPr wrap="square" anchor="t" lIns="0" rIns="0" tIns="0" bIns="0">
            <a:spAutoFit/>
          </a:bodyPr>
          <a:lstStyle/>
          <a:p>
            <a:pPr algn="l">
              <a:lnSpc>
                <a:spcPct val="105000"/>
              </a:lnSpc>
            </a:pPr>
            <a:r>
              <a:rPr sz="2200" b="0" i="0">
                <a:solidFill>
                  <a:srgbClr val="1B2430"/>
                </a:solidFill>
                <a:latin typeface="Calibri"/>
              </a:rPr>
              <a:t>Public code and data; can be pointed at new domains</a:t>
            </a:r>
          </a:p>
        </p:txBody>
      </p:sp>
      <p:sp>
        <p:nvSpPr>
          <p:cNvPr id="14" name="Rounded Rectangle 13"/>
          <p:cNvSpPr/>
          <p:nvPr/>
        </p:nvSpPr>
        <p:spPr>
          <a:xfrm>
            <a:off x="7818120" y="1691639"/>
            <a:ext cx="3822191" cy="4160520"/>
          </a:xfrm>
          <a:prstGeom prst="roundRect">
            <a:avLst>
              <a:gd name="adj" fmla="val 8000"/>
            </a:avLst>
          </a:prstGeom>
          <a:solidFill>
            <a:srgbClr val="0E1525"/>
          </a:solidFill>
          <a:ln>
            <a:noFill/>
          </a:ln>
          <a:effectLst/>
        </p:spPr>
        <p:txBody>
          <a:bodyPr rtlCol="0" anchor="ctr"/>
          <a:lstStyle/>
          <a:p>
            <a:pPr algn="ctr"/>
          </a:p>
        </p:txBody>
      </p:sp>
      <p:sp>
        <p:nvSpPr>
          <p:cNvPr id="15" name="TextBox 14"/>
          <p:cNvSpPr txBox="1"/>
          <p:nvPr/>
        </p:nvSpPr>
        <p:spPr>
          <a:xfrm>
            <a:off x="8092440" y="1828800"/>
            <a:ext cx="1097280" cy="1188720"/>
          </a:xfrm>
          <a:prstGeom prst="rect">
            <a:avLst/>
          </a:prstGeom>
          <a:noFill/>
        </p:spPr>
        <p:txBody>
          <a:bodyPr wrap="square" anchor="t" lIns="0" rIns="0" tIns="0" bIns="0">
            <a:spAutoFit/>
          </a:bodyPr>
          <a:lstStyle/>
          <a:p>
            <a:pPr algn="l">
              <a:lnSpc>
                <a:spcPct val="80000"/>
              </a:lnSpc>
            </a:pPr>
            <a:r>
              <a:rPr sz="9600" b="1" i="0">
                <a:solidFill>
                  <a:srgbClr val="4C8BF5"/>
                </a:solidFill>
                <a:latin typeface="Calibri"/>
              </a:rPr>
              <a:t>“</a:t>
            </a:r>
          </a:p>
        </p:txBody>
      </p:sp>
      <p:sp>
        <p:nvSpPr>
          <p:cNvPr id="16" name="TextBox 15"/>
          <p:cNvSpPr txBox="1"/>
          <p:nvPr/>
        </p:nvSpPr>
        <p:spPr>
          <a:xfrm>
            <a:off x="8092440" y="2971800"/>
            <a:ext cx="3291840" cy="2560320"/>
          </a:xfrm>
          <a:prstGeom prst="rect">
            <a:avLst/>
          </a:prstGeom>
          <a:noFill/>
        </p:spPr>
        <p:txBody>
          <a:bodyPr wrap="square" anchor="t" lIns="0" rIns="0" tIns="0" bIns="0">
            <a:spAutoFit/>
          </a:bodyPr>
          <a:lstStyle/>
          <a:p>
            <a:pPr algn="l">
              <a:lnSpc>
                <a:spcPct val="105000"/>
              </a:lnSpc>
            </a:pPr>
            <a:r>
              <a:rPr sz="3600" b="1" i="0">
                <a:solidFill>
                  <a:srgbClr val="E6ECF5"/>
                </a:solidFill>
                <a:latin typeface="Calibri"/>
              </a:rPr>
              <a:t>No labelled relation instances.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640080"/>
          </a:xfrm>
          <a:prstGeom prst="rect">
            <a:avLst/>
          </a:prstGeom>
          <a:noFill/>
        </p:spPr>
        <p:txBody>
          <a:bodyPr wrap="square" anchor="ctr" lIns="0" rIns="0" tIns="0" bIns="0">
            <a:spAutoFit/>
          </a:bodyPr>
          <a:lstStyle/>
          <a:p>
            <a:pPr algn="l">
              <a:lnSpc>
                <a:spcPct val="105000"/>
              </a:lnSpc>
            </a:pPr>
            <a:r>
              <a:rPr sz="3400" b="1" i="0">
                <a:solidFill>
                  <a:srgbClr val="1B2430"/>
                </a:solidFill>
                <a:latin typeface="Calibri"/>
              </a:rPr>
              <a:t>The paper's datasets</a:t>
            </a:r>
          </a:p>
        </p:txBody>
      </p:sp>
      <p:cxnSp>
        <p:nvCxnSpPr>
          <p:cNvPr id="3" name="Connector 2"/>
          <p:cNvCxnSpPr/>
          <p:nvPr/>
        </p:nvCxnSpPr>
        <p:spPr>
          <a:xfrm>
            <a:off x="548640" y="1234440"/>
            <a:ext cx="11094415" cy="0"/>
          </a:xfrm>
          <a:prstGeom prst="line">
            <a:avLst/>
          </a:prstGeom>
          <a:ln w="12700">
            <a:solidFill>
              <a:srgbClr val="4C8BF5"/>
            </a:solidFill>
          </a:ln>
        </p:spPr>
      </p:cxnSp>
      <p:sp>
        <p:nvSpPr>
          <p:cNvPr id="4" name="TextBox 3"/>
          <p:cNvSpPr txBox="1"/>
          <p:nvPr/>
        </p:nvSpPr>
        <p:spPr>
          <a:xfrm>
            <a:off x="10911535" y="6126480"/>
            <a:ext cx="731520" cy="274320"/>
          </a:xfrm>
          <a:prstGeom prst="rect">
            <a:avLst/>
          </a:prstGeom>
          <a:noFill/>
        </p:spPr>
        <p:txBody>
          <a:bodyPr wrap="square" anchor="ctr" lIns="0" rIns="0" tIns="0" bIns="0">
            <a:spAutoFit/>
          </a:bodyPr>
          <a:lstStyle/>
          <a:p>
            <a:pPr algn="r">
              <a:lnSpc>
                <a:spcPct val="105000"/>
              </a:lnSpc>
            </a:pPr>
            <a:r>
              <a:rPr sz="1600" b="0" i="0">
                <a:solidFill>
                  <a:srgbClr val="6B7684"/>
                </a:solidFill>
                <a:latin typeface="Calibri"/>
              </a:rPr>
              <a:t>3</a:t>
            </a:r>
          </a:p>
        </p:txBody>
      </p:sp>
      <p:sp>
        <p:nvSpPr>
          <p:cNvPr id="5" name="Rounded Rectangle 4"/>
          <p:cNvSpPr/>
          <p:nvPr/>
        </p:nvSpPr>
        <p:spPr>
          <a:xfrm>
            <a:off x="548640" y="1554480"/>
            <a:ext cx="5440680" cy="3246120"/>
          </a:xfrm>
          <a:prstGeom prst="roundRect">
            <a:avLst>
              <a:gd name="adj" fmla="val 8000"/>
            </a:avLst>
          </a:prstGeom>
          <a:solidFill>
            <a:srgbClr val="F2F5FA"/>
          </a:solidFill>
          <a:ln>
            <a:noFill/>
          </a:ln>
          <a:effectLst/>
        </p:spPr>
        <p:txBody>
          <a:bodyPr rtlCol="0" anchor="ctr"/>
          <a:lstStyle/>
          <a:p>
            <a:pPr algn="ctr"/>
          </a:p>
        </p:txBody>
      </p:sp>
      <p:sp>
        <p:nvSpPr>
          <p:cNvPr id="6" name="Rectangle 5"/>
          <p:cNvSpPr/>
          <p:nvPr/>
        </p:nvSpPr>
        <p:spPr>
          <a:xfrm>
            <a:off x="548640" y="1828800"/>
            <a:ext cx="64008" cy="2697480"/>
          </a:xfrm>
          <a:prstGeom prst="rect">
            <a:avLst/>
          </a:prstGeom>
          <a:solidFill>
            <a:srgbClr val="4C8BF5"/>
          </a:solidFill>
          <a:ln>
            <a:noFill/>
          </a:ln>
          <a:effectLst/>
        </p:spPr>
        <p:txBody>
          <a:bodyPr rtlCol="0" anchor="ctr"/>
          <a:lstStyle/>
          <a:p>
            <a:pPr algn="ctr"/>
          </a:p>
        </p:txBody>
      </p:sp>
      <p:sp>
        <p:nvSpPr>
          <p:cNvPr id="7" name="TextBox 6"/>
          <p:cNvSpPr txBox="1"/>
          <p:nvPr/>
        </p:nvSpPr>
        <p:spPr>
          <a:xfrm>
            <a:off x="868680" y="1783080"/>
            <a:ext cx="4892040" cy="502920"/>
          </a:xfrm>
          <a:prstGeom prst="rect">
            <a:avLst/>
          </a:prstGeom>
          <a:noFill/>
        </p:spPr>
        <p:txBody>
          <a:bodyPr wrap="square" anchor="t" lIns="0" rIns="0" tIns="0" bIns="0">
            <a:spAutoFit/>
          </a:bodyPr>
          <a:lstStyle/>
          <a:p>
            <a:pPr algn="l">
              <a:lnSpc>
                <a:spcPct val="105000"/>
              </a:lnSpc>
            </a:pPr>
            <a:r>
              <a:rPr sz="2800" b="1" i="0">
                <a:solidFill>
                  <a:srgbClr val="1B2430"/>
                </a:solidFill>
                <a:latin typeface="Calibri"/>
              </a:rPr>
              <a:t>DefOn-FewRel</a:t>
            </a:r>
          </a:p>
        </p:txBody>
      </p:sp>
      <p:sp>
        <p:nvSpPr>
          <p:cNvPr id="8" name="TextBox 7"/>
          <p:cNvSpPr txBox="1"/>
          <p:nvPr/>
        </p:nvSpPr>
        <p:spPr>
          <a:xfrm>
            <a:off x="868680" y="2331720"/>
            <a:ext cx="4892040" cy="411480"/>
          </a:xfrm>
          <a:prstGeom prst="rect">
            <a:avLst/>
          </a:prstGeom>
          <a:noFill/>
        </p:spPr>
        <p:txBody>
          <a:bodyPr wrap="square" anchor="t" lIns="0" rIns="0" tIns="0" bIns="0">
            <a:spAutoFit/>
          </a:bodyPr>
          <a:lstStyle/>
          <a:p>
            <a:pPr algn="l">
              <a:lnSpc>
                <a:spcPct val="105000"/>
              </a:lnSpc>
            </a:pPr>
            <a:r>
              <a:rPr sz="2000" b="0" i="0">
                <a:solidFill>
                  <a:srgbClr val="6B7684"/>
                </a:solidFill>
                <a:latin typeface="Calibri"/>
              </a:rPr>
              <a:t>Built from FewRel · Wikipedia sentences</a:t>
            </a:r>
          </a:p>
        </p:txBody>
      </p:sp>
      <p:sp>
        <p:nvSpPr>
          <p:cNvPr id="9" name="TextBox 8"/>
          <p:cNvSpPr txBox="1"/>
          <p:nvPr/>
        </p:nvSpPr>
        <p:spPr>
          <a:xfrm>
            <a:off x="868680" y="2834639"/>
            <a:ext cx="4892040" cy="1097280"/>
          </a:xfrm>
          <a:prstGeom prst="rect">
            <a:avLst/>
          </a:prstGeom>
          <a:noFill/>
        </p:spPr>
        <p:txBody>
          <a:bodyPr wrap="square" anchor="ctr" lIns="0" rIns="0" tIns="0" bIns="0">
            <a:spAutoFit/>
          </a:bodyPr>
          <a:lstStyle/>
          <a:p>
            <a:pPr algn="l">
              <a:lnSpc>
                <a:spcPct val="105000"/>
              </a:lnSpc>
            </a:pPr>
            <a:r>
              <a:rPr sz="6400" b="1" i="0">
                <a:solidFill>
                  <a:srgbClr val="E8B931"/>
                </a:solidFill>
                <a:latin typeface="Calibri"/>
              </a:rPr>
              <a:t>80</a:t>
            </a:r>
            <a:r>
              <a:rPr sz="2000" b="0" i="0">
                <a:solidFill>
                  <a:srgbClr val="6B7684"/>
                </a:solidFill>
                <a:latin typeface="Calibri"/>
              </a:rPr>
              <a:t>  relations</a:t>
            </a:r>
          </a:p>
        </p:txBody>
      </p:sp>
      <p:sp>
        <p:nvSpPr>
          <p:cNvPr id="10" name="TextBox 9"/>
          <p:cNvSpPr txBox="1"/>
          <p:nvPr/>
        </p:nvSpPr>
        <p:spPr>
          <a:xfrm>
            <a:off x="868680" y="4023360"/>
            <a:ext cx="4892040" cy="457200"/>
          </a:xfrm>
          <a:prstGeom prst="rect">
            <a:avLst/>
          </a:prstGeom>
          <a:noFill/>
        </p:spPr>
        <p:txBody>
          <a:bodyPr wrap="square" anchor="t" lIns="0" rIns="0" tIns="0" bIns="0">
            <a:spAutoFit/>
          </a:bodyPr>
          <a:lstStyle/>
          <a:p>
            <a:pPr algn="l">
              <a:lnSpc>
                <a:spcPct val="105000"/>
              </a:lnSpc>
            </a:pPr>
            <a:r>
              <a:rPr sz="2000" b="1" i="0">
                <a:solidFill>
                  <a:srgbClr val="4C8BF5"/>
                </a:solidFill>
                <a:latin typeface="Calibri"/>
              </a:rPr>
              <a:t>5 held-out test groups</a:t>
            </a:r>
          </a:p>
        </p:txBody>
      </p:sp>
      <p:sp>
        <p:nvSpPr>
          <p:cNvPr id="11" name="Rounded Rectangle 10"/>
          <p:cNvSpPr/>
          <p:nvPr/>
        </p:nvSpPr>
        <p:spPr>
          <a:xfrm>
            <a:off x="6199632" y="1554480"/>
            <a:ext cx="5440680" cy="3246120"/>
          </a:xfrm>
          <a:prstGeom prst="roundRect">
            <a:avLst>
              <a:gd name="adj" fmla="val 8000"/>
            </a:avLst>
          </a:prstGeom>
          <a:solidFill>
            <a:srgbClr val="F2F5FA"/>
          </a:solidFill>
          <a:ln>
            <a:noFill/>
          </a:ln>
          <a:effectLst/>
        </p:spPr>
        <p:txBody>
          <a:bodyPr rtlCol="0" anchor="ctr"/>
          <a:lstStyle/>
          <a:p>
            <a:pPr algn="ctr"/>
          </a:p>
        </p:txBody>
      </p:sp>
      <p:sp>
        <p:nvSpPr>
          <p:cNvPr id="12" name="Rectangle 11"/>
          <p:cNvSpPr/>
          <p:nvPr/>
        </p:nvSpPr>
        <p:spPr>
          <a:xfrm>
            <a:off x="6199632" y="1828800"/>
            <a:ext cx="64008" cy="2697480"/>
          </a:xfrm>
          <a:prstGeom prst="rect">
            <a:avLst/>
          </a:prstGeom>
          <a:solidFill>
            <a:srgbClr val="4C8BF5"/>
          </a:solidFill>
          <a:ln>
            <a:noFill/>
          </a:ln>
          <a:effectLst/>
        </p:spPr>
        <p:txBody>
          <a:bodyPr rtlCol="0" anchor="ctr"/>
          <a:lstStyle/>
          <a:p>
            <a:pPr algn="ctr"/>
          </a:p>
        </p:txBody>
      </p:sp>
      <p:sp>
        <p:nvSpPr>
          <p:cNvPr id="13" name="TextBox 12"/>
          <p:cNvSpPr txBox="1"/>
          <p:nvPr/>
        </p:nvSpPr>
        <p:spPr>
          <a:xfrm>
            <a:off x="6519672" y="1783080"/>
            <a:ext cx="4892040" cy="502920"/>
          </a:xfrm>
          <a:prstGeom prst="rect">
            <a:avLst/>
          </a:prstGeom>
          <a:noFill/>
        </p:spPr>
        <p:txBody>
          <a:bodyPr wrap="square" anchor="t" lIns="0" rIns="0" tIns="0" bIns="0">
            <a:spAutoFit/>
          </a:bodyPr>
          <a:lstStyle/>
          <a:p>
            <a:pPr algn="l">
              <a:lnSpc>
                <a:spcPct val="105000"/>
              </a:lnSpc>
            </a:pPr>
            <a:r>
              <a:rPr sz="2800" b="1" i="0">
                <a:solidFill>
                  <a:srgbClr val="1B2430"/>
                </a:solidFill>
                <a:latin typeface="Calibri"/>
              </a:rPr>
              <a:t>DefOn-WikiZSL</a:t>
            </a:r>
          </a:p>
        </p:txBody>
      </p:sp>
      <p:sp>
        <p:nvSpPr>
          <p:cNvPr id="14" name="TextBox 13"/>
          <p:cNvSpPr txBox="1"/>
          <p:nvPr/>
        </p:nvSpPr>
        <p:spPr>
          <a:xfrm>
            <a:off x="6519672" y="2331720"/>
            <a:ext cx="4892040" cy="411480"/>
          </a:xfrm>
          <a:prstGeom prst="rect">
            <a:avLst/>
          </a:prstGeom>
          <a:noFill/>
        </p:spPr>
        <p:txBody>
          <a:bodyPr wrap="square" anchor="t" lIns="0" rIns="0" tIns="0" bIns="0">
            <a:spAutoFit/>
          </a:bodyPr>
          <a:lstStyle/>
          <a:p>
            <a:pPr algn="l">
              <a:lnSpc>
                <a:spcPct val="105000"/>
              </a:lnSpc>
            </a:pPr>
            <a:r>
              <a:rPr sz="2000" b="0" i="0">
                <a:solidFill>
                  <a:srgbClr val="6B7684"/>
                </a:solidFill>
                <a:latin typeface="Calibri"/>
              </a:rPr>
              <a:t>Built from WikiZSL · Wikidata</a:t>
            </a:r>
          </a:p>
        </p:txBody>
      </p:sp>
      <p:sp>
        <p:nvSpPr>
          <p:cNvPr id="15" name="TextBox 14"/>
          <p:cNvSpPr txBox="1"/>
          <p:nvPr/>
        </p:nvSpPr>
        <p:spPr>
          <a:xfrm>
            <a:off x="6519672" y="2834639"/>
            <a:ext cx="4892040" cy="1097280"/>
          </a:xfrm>
          <a:prstGeom prst="rect">
            <a:avLst/>
          </a:prstGeom>
          <a:noFill/>
        </p:spPr>
        <p:txBody>
          <a:bodyPr wrap="square" anchor="ctr" lIns="0" rIns="0" tIns="0" bIns="0">
            <a:spAutoFit/>
          </a:bodyPr>
          <a:lstStyle/>
          <a:p>
            <a:pPr algn="l">
              <a:lnSpc>
                <a:spcPct val="105000"/>
              </a:lnSpc>
            </a:pPr>
            <a:r>
              <a:rPr sz="6400" b="1" i="0">
                <a:solidFill>
                  <a:srgbClr val="E8B931"/>
                </a:solidFill>
                <a:latin typeface="Calibri"/>
              </a:rPr>
              <a:t>3 × 15</a:t>
            </a:r>
            <a:r>
              <a:rPr sz="2000" b="0" i="0">
                <a:solidFill>
                  <a:srgbClr val="6B7684"/>
                </a:solidFill>
                <a:latin typeface="Calibri"/>
              </a:rPr>
              <a:t>  relations</a:t>
            </a:r>
          </a:p>
        </p:txBody>
      </p:sp>
      <p:sp>
        <p:nvSpPr>
          <p:cNvPr id="16" name="TextBox 15"/>
          <p:cNvSpPr txBox="1"/>
          <p:nvPr/>
        </p:nvSpPr>
        <p:spPr>
          <a:xfrm>
            <a:off x="6519672" y="4023360"/>
            <a:ext cx="4892040" cy="457200"/>
          </a:xfrm>
          <a:prstGeom prst="rect">
            <a:avLst/>
          </a:prstGeom>
          <a:noFill/>
        </p:spPr>
        <p:txBody>
          <a:bodyPr wrap="square" anchor="t" lIns="0" rIns="0" tIns="0" bIns="0">
            <a:spAutoFit/>
          </a:bodyPr>
          <a:lstStyle/>
          <a:p>
            <a:pPr algn="l">
              <a:lnSpc>
                <a:spcPct val="105000"/>
              </a:lnSpc>
            </a:pPr>
            <a:r>
              <a:rPr sz="2000" b="1" i="0">
                <a:solidFill>
                  <a:srgbClr val="4C8BF5"/>
                </a:solidFill>
                <a:latin typeface="Calibri"/>
              </a:rPr>
              <a:t>3 test groups of 15 relations</a:t>
            </a:r>
          </a:p>
        </p:txBody>
      </p:sp>
      <p:sp>
        <p:nvSpPr>
          <p:cNvPr id="17" name="Rounded Rectangle 16"/>
          <p:cNvSpPr/>
          <p:nvPr/>
        </p:nvSpPr>
        <p:spPr>
          <a:xfrm>
            <a:off x="548640" y="5074920"/>
            <a:ext cx="11094415" cy="868680"/>
          </a:xfrm>
          <a:prstGeom prst="roundRect">
            <a:avLst>
              <a:gd name="adj" fmla="val 8000"/>
            </a:avLst>
          </a:prstGeom>
          <a:solidFill>
            <a:srgbClr val="0E1525"/>
          </a:solidFill>
          <a:ln>
            <a:noFill/>
          </a:ln>
          <a:effectLst/>
        </p:spPr>
        <p:txBody>
          <a:bodyPr rtlCol="0" anchor="ctr"/>
          <a:lstStyle/>
          <a:p>
            <a:pPr algn="ctr"/>
          </a:p>
        </p:txBody>
      </p:sp>
      <p:sp>
        <p:nvSpPr>
          <p:cNvPr id="18" name="TextBox 17"/>
          <p:cNvSpPr txBox="1"/>
          <p:nvPr/>
        </p:nvSpPr>
        <p:spPr>
          <a:xfrm>
            <a:off x="822959" y="5074920"/>
            <a:ext cx="10545775" cy="868680"/>
          </a:xfrm>
          <a:prstGeom prst="rect">
            <a:avLst/>
          </a:prstGeom>
          <a:noFill/>
        </p:spPr>
        <p:txBody>
          <a:bodyPr wrap="square" anchor="ctr" lIns="0" rIns="0" tIns="0" bIns="0">
            <a:spAutoFit/>
          </a:bodyPr>
          <a:lstStyle/>
          <a:p>
            <a:pPr algn="l">
              <a:lnSpc>
                <a:spcPct val="105000"/>
              </a:lnSpc>
            </a:pPr>
            <a:r>
              <a:rPr sz="2000" b="1" i="0">
                <a:solidFill>
                  <a:srgbClr val="4C8BF5"/>
                </a:solidFill>
                <a:latin typeface="Calibri"/>
              </a:rPr>
              <a:t>Evaluation: </a:t>
            </a:r>
            <a:r>
              <a:rPr sz="2000" b="0" i="0">
                <a:solidFill>
                  <a:srgbClr val="E6ECF5"/>
                </a:solidFill>
                <a:latin typeface="Calibri"/>
              </a:rPr>
              <a:t>each test relation is the target in turn, the others are negatives; precision, recall and F1 are averaged.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640080"/>
          </a:xfrm>
          <a:prstGeom prst="rect">
            <a:avLst/>
          </a:prstGeom>
          <a:noFill/>
        </p:spPr>
        <p:txBody>
          <a:bodyPr wrap="square" anchor="ctr" lIns="0" rIns="0" tIns="0" bIns="0">
            <a:spAutoFit/>
          </a:bodyPr>
          <a:lstStyle/>
          <a:p>
            <a:pPr algn="l">
              <a:lnSpc>
                <a:spcPct val="105000"/>
              </a:lnSpc>
            </a:pPr>
            <a:r>
              <a:rPr sz="3400" b="1" i="0">
                <a:solidFill>
                  <a:srgbClr val="1B2430"/>
                </a:solidFill>
                <a:latin typeface="Calibri"/>
              </a:rPr>
              <a:t>How REPaL works</a:t>
            </a:r>
          </a:p>
        </p:txBody>
      </p:sp>
      <p:cxnSp>
        <p:nvCxnSpPr>
          <p:cNvPr id="3" name="Connector 2"/>
          <p:cNvCxnSpPr/>
          <p:nvPr/>
        </p:nvCxnSpPr>
        <p:spPr>
          <a:xfrm>
            <a:off x="548640" y="1234440"/>
            <a:ext cx="11094415" cy="0"/>
          </a:xfrm>
          <a:prstGeom prst="line">
            <a:avLst/>
          </a:prstGeom>
          <a:ln w="12700">
            <a:solidFill>
              <a:srgbClr val="4C8BF5"/>
            </a:solidFill>
          </a:ln>
        </p:spPr>
      </p:cxnSp>
      <p:sp>
        <p:nvSpPr>
          <p:cNvPr id="4" name="TextBox 3"/>
          <p:cNvSpPr txBox="1"/>
          <p:nvPr/>
        </p:nvSpPr>
        <p:spPr>
          <a:xfrm>
            <a:off x="10911535" y="6126480"/>
            <a:ext cx="731520" cy="274320"/>
          </a:xfrm>
          <a:prstGeom prst="rect">
            <a:avLst/>
          </a:prstGeom>
          <a:noFill/>
        </p:spPr>
        <p:txBody>
          <a:bodyPr wrap="square" anchor="ctr" lIns="0" rIns="0" tIns="0" bIns="0">
            <a:spAutoFit/>
          </a:bodyPr>
          <a:lstStyle/>
          <a:p>
            <a:pPr algn="r">
              <a:lnSpc>
                <a:spcPct val="105000"/>
              </a:lnSpc>
            </a:pPr>
            <a:r>
              <a:rPr sz="1600" b="0" i="0">
                <a:solidFill>
                  <a:srgbClr val="6B7684"/>
                </a:solidFill>
                <a:latin typeface="Calibri"/>
              </a:rPr>
              <a:t>4</a:t>
            </a:r>
          </a:p>
        </p:txBody>
      </p:sp>
      <p:sp>
        <p:nvSpPr>
          <p:cNvPr id="5" name="Rounded Rectangle 4"/>
          <p:cNvSpPr/>
          <p:nvPr/>
        </p:nvSpPr>
        <p:spPr>
          <a:xfrm>
            <a:off x="548640" y="1645920"/>
            <a:ext cx="3246120" cy="3200400"/>
          </a:xfrm>
          <a:prstGeom prst="roundRect">
            <a:avLst>
              <a:gd name="adj" fmla="val 8000"/>
            </a:avLst>
          </a:prstGeom>
          <a:solidFill>
            <a:srgbClr val="F2F5FA"/>
          </a:solidFill>
          <a:ln w="15875">
            <a:solidFill>
              <a:srgbClr val="4C8BF5"/>
            </a:solidFill>
          </a:ln>
          <a:effectLst/>
        </p:spPr>
        <p:txBody>
          <a:bodyPr rtlCol="0" anchor="ctr"/>
          <a:lstStyle/>
          <a:p>
            <a:pPr algn="ctr"/>
          </a:p>
        </p:txBody>
      </p:sp>
      <p:sp>
        <p:nvSpPr>
          <p:cNvPr id="6" name="Rounded Rectangle 5"/>
          <p:cNvSpPr/>
          <p:nvPr/>
        </p:nvSpPr>
        <p:spPr>
          <a:xfrm>
            <a:off x="822959" y="1920240"/>
            <a:ext cx="566928" cy="566928"/>
          </a:xfrm>
          <a:prstGeom prst="roundRect">
            <a:avLst>
              <a:gd name="adj" fmla="val 8000"/>
            </a:avLst>
          </a:prstGeom>
          <a:solidFill>
            <a:srgbClr val="4C8BF5"/>
          </a:solidFill>
          <a:ln>
            <a:noFill/>
          </a:ln>
          <a:effectLst/>
        </p:spPr>
        <p:txBody>
          <a:bodyPr rtlCol="0" anchor="ctr"/>
          <a:lstStyle/>
          <a:p>
            <a:pPr algn="ctr"/>
          </a:p>
        </p:txBody>
      </p:sp>
      <p:sp>
        <p:nvSpPr>
          <p:cNvPr id="7" name="TextBox 6"/>
          <p:cNvSpPr txBox="1"/>
          <p:nvPr/>
        </p:nvSpPr>
        <p:spPr>
          <a:xfrm>
            <a:off x="822959" y="1920240"/>
            <a:ext cx="566928" cy="566928"/>
          </a:xfrm>
          <a:prstGeom prst="rect">
            <a:avLst/>
          </a:prstGeom>
          <a:noFill/>
        </p:spPr>
        <p:txBody>
          <a:bodyPr wrap="square" anchor="ctr" lIns="0" rIns="0" tIns="0" bIns="0">
            <a:spAutoFit/>
          </a:bodyPr>
          <a:lstStyle/>
          <a:p>
            <a:pPr algn="ctr">
              <a:lnSpc>
                <a:spcPct val="105000"/>
              </a:lnSpc>
            </a:pPr>
            <a:r>
              <a:rPr sz="2400" b="1" i="0">
                <a:solidFill>
                  <a:srgbClr val="FFFFFF"/>
                </a:solidFill>
                <a:latin typeface="Calibri"/>
              </a:rPr>
              <a:t>1</a:t>
            </a:r>
          </a:p>
        </p:txBody>
      </p:sp>
      <p:sp>
        <p:nvSpPr>
          <p:cNvPr id="8" name="TextBox 7"/>
          <p:cNvSpPr txBox="1"/>
          <p:nvPr/>
        </p:nvSpPr>
        <p:spPr>
          <a:xfrm>
            <a:off x="822959" y="2651760"/>
            <a:ext cx="2743200" cy="457200"/>
          </a:xfrm>
          <a:prstGeom prst="rect">
            <a:avLst/>
          </a:prstGeom>
          <a:noFill/>
        </p:spPr>
        <p:txBody>
          <a:bodyPr wrap="square" anchor="t" lIns="0" rIns="0" tIns="0" bIns="0">
            <a:spAutoFit/>
          </a:bodyPr>
          <a:lstStyle/>
          <a:p>
            <a:pPr algn="l">
              <a:lnSpc>
                <a:spcPct val="105000"/>
              </a:lnSpc>
            </a:pPr>
            <a:r>
              <a:rPr sz="2400" b="1" i="0">
                <a:solidFill>
                  <a:srgbClr val="1B2430"/>
                </a:solidFill>
                <a:latin typeface="Calibri"/>
              </a:rPr>
              <a:t>Write examples</a:t>
            </a:r>
          </a:p>
        </p:txBody>
      </p:sp>
      <p:sp>
        <p:nvSpPr>
          <p:cNvPr id="9" name="TextBox 8"/>
          <p:cNvSpPr txBox="1"/>
          <p:nvPr/>
        </p:nvSpPr>
        <p:spPr>
          <a:xfrm>
            <a:off x="822959" y="3246120"/>
            <a:ext cx="2743200" cy="1463040"/>
          </a:xfrm>
          <a:prstGeom prst="rect">
            <a:avLst/>
          </a:prstGeom>
          <a:noFill/>
        </p:spPr>
        <p:txBody>
          <a:bodyPr wrap="square" anchor="t" lIns="0" rIns="0" tIns="0" bIns="0">
            <a:spAutoFit/>
          </a:bodyPr>
          <a:lstStyle/>
          <a:p>
            <a:pPr algn="l">
              <a:lnSpc>
                <a:spcPct val="105000"/>
              </a:lnSpc>
            </a:pPr>
            <a:r>
              <a:rPr sz="2000" b="0" i="0">
                <a:solidFill>
                  <a:srgbClr val="1B2430"/>
                </a:solidFill>
                <a:latin typeface="Calibri"/>
              </a:rPr>
              <a:t>An LLM reads the definition and writes tagged example sentences</a:t>
            </a:r>
          </a:p>
        </p:txBody>
      </p:sp>
      <p:sp>
        <p:nvSpPr>
          <p:cNvPr id="10" name="Right Arrow 9"/>
          <p:cNvSpPr/>
          <p:nvPr/>
        </p:nvSpPr>
        <p:spPr>
          <a:xfrm>
            <a:off x="3886199" y="3063239"/>
            <a:ext cx="493776" cy="502920"/>
          </a:xfrm>
          <a:prstGeom prst="rightArrow">
            <a:avLst/>
          </a:prstGeom>
          <a:solidFill>
            <a:srgbClr val="4C8BF5"/>
          </a:solidFill>
          <a:ln>
            <a:noFill/>
          </a:ln>
          <a:effectLst/>
        </p:spPr>
        <p:txBody>
          <a:bodyPr rtlCol="0" anchor="ctr"/>
          <a:lstStyle/>
          <a:p>
            <a:pPr algn="ctr"/>
          </a:p>
        </p:txBody>
      </p:sp>
      <p:sp>
        <p:nvSpPr>
          <p:cNvPr id="11" name="Rounded Rectangle 10"/>
          <p:cNvSpPr/>
          <p:nvPr/>
        </p:nvSpPr>
        <p:spPr>
          <a:xfrm>
            <a:off x="4471416" y="1645920"/>
            <a:ext cx="3246120" cy="3200400"/>
          </a:xfrm>
          <a:prstGeom prst="roundRect">
            <a:avLst>
              <a:gd name="adj" fmla="val 8000"/>
            </a:avLst>
          </a:prstGeom>
          <a:solidFill>
            <a:srgbClr val="F2F5FA"/>
          </a:solidFill>
          <a:ln w="15875">
            <a:solidFill>
              <a:srgbClr val="4C8BF5"/>
            </a:solidFill>
          </a:ln>
          <a:effectLst/>
        </p:spPr>
        <p:txBody>
          <a:bodyPr rtlCol="0" anchor="ctr"/>
          <a:lstStyle/>
          <a:p>
            <a:pPr algn="ctr"/>
          </a:p>
        </p:txBody>
      </p:sp>
      <p:sp>
        <p:nvSpPr>
          <p:cNvPr id="12" name="Rounded Rectangle 11"/>
          <p:cNvSpPr/>
          <p:nvPr/>
        </p:nvSpPr>
        <p:spPr>
          <a:xfrm>
            <a:off x="4745736" y="1920240"/>
            <a:ext cx="566928" cy="566928"/>
          </a:xfrm>
          <a:prstGeom prst="roundRect">
            <a:avLst>
              <a:gd name="adj" fmla="val 8000"/>
            </a:avLst>
          </a:prstGeom>
          <a:solidFill>
            <a:srgbClr val="4C8BF5"/>
          </a:solidFill>
          <a:ln>
            <a:noFill/>
          </a:ln>
          <a:effectLst/>
        </p:spPr>
        <p:txBody>
          <a:bodyPr rtlCol="0" anchor="ctr"/>
          <a:lstStyle/>
          <a:p>
            <a:pPr algn="ctr"/>
          </a:p>
        </p:txBody>
      </p:sp>
      <p:sp>
        <p:nvSpPr>
          <p:cNvPr id="13" name="TextBox 12"/>
          <p:cNvSpPr txBox="1"/>
          <p:nvPr/>
        </p:nvSpPr>
        <p:spPr>
          <a:xfrm>
            <a:off x="4745736" y="1920240"/>
            <a:ext cx="566928" cy="566928"/>
          </a:xfrm>
          <a:prstGeom prst="rect">
            <a:avLst/>
          </a:prstGeom>
          <a:noFill/>
        </p:spPr>
        <p:txBody>
          <a:bodyPr wrap="square" anchor="ctr" lIns="0" rIns="0" tIns="0" bIns="0">
            <a:spAutoFit/>
          </a:bodyPr>
          <a:lstStyle/>
          <a:p>
            <a:pPr algn="ctr">
              <a:lnSpc>
                <a:spcPct val="105000"/>
              </a:lnSpc>
            </a:pPr>
            <a:r>
              <a:rPr sz="2400" b="1" i="0">
                <a:solidFill>
                  <a:srgbClr val="FFFFFF"/>
                </a:solidFill>
                <a:latin typeface="Calibri"/>
              </a:rPr>
              <a:t>2</a:t>
            </a:r>
          </a:p>
        </p:txBody>
      </p:sp>
      <p:sp>
        <p:nvSpPr>
          <p:cNvPr id="14" name="TextBox 13"/>
          <p:cNvSpPr txBox="1"/>
          <p:nvPr/>
        </p:nvSpPr>
        <p:spPr>
          <a:xfrm>
            <a:off x="4745736" y="2651760"/>
            <a:ext cx="2743200" cy="457200"/>
          </a:xfrm>
          <a:prstGeom prst="rect">
            <a:avLst/>
          </a:prstGeom>
          <a:noFill/>
        </p:spPr>
        <p:txBody>
          <a:bodyPr wrap="square" anchor="t" lIns="0" rIns="0" tIns="0" bIns="0">
            <a:spAutoFit/>
          </a:bodyPr>
          <a:lstStyle/>
          <a:p>
            <a:pPr algn="l">
              <a:lnSpc>
                <a:spcPct val="105000"/>
              </a:lnSpc>
            </a:pPr>
            <a:r>
              <a:rPr sz="2400" b="1" i="0">
                <a:solidFill>
                  <a:srgbClr val="1B2430"/>
                </a:solidFill>
                <a:latin typeface="Calibri"/>
              </a:rPr>
              <a:t>Train a small model</a:t>
            </a:r>
          </a:p>
        </p:txBody>
      </p:sp>
      <p:sp>
        <p:nvSpPr>
          <p:cNvPr id="15" name="TextBox 14"/>
          <p:cNvSpPr txBox="1"/>
          <p:nvPr/>
        </p:nvSpPr>
        <p:spPr>
          <a:xfrm>
            <a:off x="4745736" y="3246120"/>
            <a:ext cx="2743200" cy="1463040"/>
          </a:xfrm>
          <a:prstGeom prst="rect">
            <a:avLst/>
          </a:prstGeom>
          <a:noFill/>
        </p:spPr>
        <p:txBody>
          <a:bodyPr wrap="square" anchor="t" lIns="0" rIns="0" tIns="0" bIns="0">
            <a:spAutoFit/>
          </a:bodyPr>
          <a:lstStyle/>
          <a:p>
            <a:pPr algn="l">
              <a:lnSpc>
                <a:spcPct val="105000"/>
              </a:lnSpc>
            </a:pPr>
            <a:r>
              <a:rPr sz="2000" b="0" i="0">
                <a:solidFill>
                  <a:srgbClr val="1B2430"/>
                </a:solidFill>
                <a:latin typeface="Calibri"/>
              </a:rPr>
              <a:t>RoBERTa-large, fine-tuned for NLI, judges sentence vs. definition</a:t>
            </a:r>
          </a:p>
        </p:txBody>
      </p:sp>
      <p:sp>
        <p:nvSpPr>
          <p:cNvPr id="16" name="Right Arrow 15"/>
          <p:cNvSpPr/>
          <p:nvPr/>
        </p:nvSpPr>
        <p:spPr>
          <a:xfrm>
            <a:off x="7808975" y="3063239"/>
            <a:ext cx="493776" cy="502920"/>
          </a:xfrm>
          <a:prstGeom prst="rightArrow">
            <a:avLst/>
          </a:prstGeom>
          <a:solidFill>
            <a:srgbClr val="4C8BF5"/>
          </a:solidFill>
          <a:ln>
            <a:noFill/>
          </a:ln>
          <a:effectLst/>
        </p:spPr>
        <p:txBody>
          <a:bodyPr rtlCol="0" anchor="ctr"/>
          <a:lstStyle/>
          <a:p>
            <a:pPr algn="ctr"/>
          </a:p>
        </p:txBody>
      </p:sp>
      <p:sp>
        <p:nvSpPr>
          <p:cNvPr id="17" name="Rounded Rectangle 16"/>
          <p:cNvSpPr/>
          <p:nvPr/>
        </p:nvSpPr>
        <p:spPr>
          <a:xfrm>
            <a:off x="8394192" y="1645920"/>
            <a:ext cx="3246120" cy="3200400"/>
          </a:xfrm>
          <a:prstGeom prst="roundRect">
            <a:avLst>
              <a:gd name="adj" fmla="val 8000"/>
            </a:avLst>
          </a:prstGeom>
          <a:solidFill>
            <a:srgbClr val="F2F5FA"/>
          </a:solidFill>
          <a:ln w="15875">
            <a:solidFill>
              <a:srgbClr val="4C8BF5"/>
            </a:solidFill>
          </a:ln>
          <a:effectLst/>
        </p:spPr>
        <p:txBody>
          <a:bodyPr rtlCol="0" anchor="ctr"/>
          <a:lstStyle/>
          <a:p>
            <a:pPr algn="ctr"/>
          </a:p>
        </p:txBody>
      </p:sp>
      <p:sp>
        <p:nvSpPr>
          <p:cNvPr id="18" name="Rounded Rectangle 17"/>
          <p:cNvSpPr/>
          <p:nvPr/>
        </p:nvSpPr>
        <p:spPr>
          <a:xfrm>
            <a:off x="8668512" y="1920240"/>
            <a:ext cx="566928" cy="566928"/>
          </a:xfrm>
          <a:prstGeom prst="roundRect">
            <a:avLst>
              <a:gd name="adj" fmla="val 8000"/>
            </a:avLst>
          </a:prstGeom>
          <a:solidFill>
            <a:srgbClr val="4C8BF5"/>
          </a:solidFill>
          <a:ln>
            <a:noFill/>
          </a:ln>
          <a:effectLst/>
        </p:spPr>
        <p:txBody>
          <a:bodyPr rtlCol="0" anchor="ctr"/>
          <a:lstStyle/>
          <a:p>
            <a:pPr algn="ctr"/>
          </a:p>
        </p:txBody>
      </p:sp>
      <p:sp>
        <p:nvSpPr>
          <p:cNvPr id="19" name="TextBox 18"/>
          <p:cNvSpPr txBox="1"/>
          <p:nvPr/>
        </p:nvSpPr>
        <p:spPr>
          <a:xfrm>
            <a:off x="8668512" y="1920240"/>
            <a:ext cx="566928" cy="566928"/>
          </a:xfrm>
          <a:prstGeom prst="rect">
            <a:avLst/>
          </a:prstGeom>
          <a:noFill/>
        </p:spPr>
        <p:txBody>
          <a:bodyPr wrap="square" anchor="ctr" lIns="0" rIns="0" tIns="0" bIns="0">
            <a:spAutoFit/>
          </a:bodyPr>
          <a:lstStyle/>
          <a:p>
            <a:pPr algn="ctr">
              <a:lnSpc>
                <a:spcPct val="105000"/>
              </a:lnSpc>
            </a:pPr>
            <a:r>
              <a:rPr sz="2400" b="1" i="0">
                <a:solidFill>
                  <a:srgbClr val="FFFFFF"/>
                </a:solidFill>
                <a:latin typeface="Calibri"/>
              </a:rPr>
              <a:t>3</a:t>
            </a:r>
          </a:p>
        </p:txBody>
      </p:sp>
      <p:sp>
        <p:nvSpPr>
          <p:cNvPr id="20" name="TextBox 19"/>
          <p:cNvSpPr txBox="1"/>
          <p:nvPr/>
        </p:nvSpPr>
        <p:spPr>
          <a:xfrm>
            <a:off x="8668512" y="2651760"/>
            <a:ext cx="2743200" cy="457200"/>
          </a:xfrm>
          <a:prstGeom prst="rect">
            <a:avLst/>
          </a:prstGeom>
          <a:noFill/>
        </p:spPr>
        <p:txBody>
          <a:bodyPr wrap="square" anchor="t" lIns="0" rIns="0" tIns="0" bIns="0">
            <a:spAutoFit/>
          </a:bodyPr>
          <a:lstStyle/>
          <a:p>
            <a:pPr algn="l">
              <a:lnSpc>
                <a:spcPct val="105000"/>
              </a:lnSpc>
            </a:pPr>
            <a:r>
              <a:rPr sz="2400" b="1" i="0">
                <a:solidFill>
                  <a:srgbClr val="1B2430"/>
                </a:solidFill>
                <a:latin typeface="Calibri"/>
              </a:rPr>
              <a:t>Feedback round</a:t>
            </a:r>
          </a:p>
        </p:txBody>
      </p:sp>
      <p:sp>
        <p:nvSpPr>
          <p:cNvPr id="21" name="TextBox 20"/>
          <p:cNvSpPr txBox="1"/>
          <p:nvPr/>
        </p:nvSpPr>
        <p:spPr>
          <a:xfrm>
            <a:off x="8668512" y="3246120"/>
            <a:ext cx="2743200" cy="1463040"/>
          </a:xfrm>
          <a:prstGeom prst="rect">
            <a:avLst/>
          </a:prstGeom>
          <a:noFill/>
        </p:spPr>
        <p:txBody>
          <a:bodyPr wrap="square" anchor="t" lIns="0" rIns="0" tIns="0" bIns="0">
            <a:spAutoFit/>
          </a:bodyPr>
          <a:lstStyle/>
          <a:p>
            <a:pPr algn="l">
              <a:lnSpc>
                <a:spcPct val="105000"/>
              </a:lnSpc>
            </a:pPr>
            <a:r>
              <a:rPr sz="2000" b="0" i="0">
                <a:solidFill>
                  <a:srgbClr val="1B2430"/>
                </a:solidFill>
                <a:latin typeface="Calibri"/>
              </a:rPr>
              <a:t>A sample of its predictions returns to the LLM: new examples and negatives, then retrain</a:t>
            </a:r>
          </a:p>
        </p:txBody>
      </p:sp>
      <p:sp>
        <p:nvSpPr>
          <p:cNvPr id="22" name="TextBox 21"/>
          <p:cNvSpPr txBox="1"/>
          <p:nvPr/>
        </p:nvSpPr>
        <p:spPr>
          <a:xfrm>
            <a:off x="548640" y="5166360"/>
            <a:ext cx="11094415" cy="548640"/>
          </a:xfrm>
          <a:prstGeom prst="rect">
            <a:avLst/>
          </a:prstGeom>
          <a:noFill/>
        </p:spPr>
        <p:txBody>
          <a:bodyPr wrap="square" anchor="ctr" lIns="0" rIns="0" tIns="0" bIns="0">
            <a:spAutoFit/>
          </a:bodyPr>
          <a:lstStyle/>
          <a:p>
            <a:pPr algn="ctr">
              <a:lnSpc>
                <a:spcPct val="105000"/>
              </a:lnSpc>
            </a:pPr>
            <a:r>
              <a:rPr sz="2600" b="1" i="0">
                <a:solidFill>
                  <a:srgbClr val="4C8BF5"/>
                </a:solidFill>
                <a:latin typeface="Calibri"/>
              </a:rPr>
              <a:t>No human-labelled training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640080"/>
          </a:xfrm>
          <a:prstGeom prst="rect">
            <a:avLst/>
          </a:prstGeom>
          <a:noFill/>
        </p:spPr>
        <p:txBody>
          <a:bodyPr wrap="square" anchor="ctr" lIns="0" rIns="0" tIns="0" bIns="0">
            <a:spAutoFit/>
          </a:bodyPr>
          <a:lstStyle/>
          <a:p>
            <a:pPr algn="l">
              <a:lnSpc>
                <a:spcPct val="105000"/>
              </a:lnSpc>
            </a:pPr>
            <a:r>
              <a:rPr sz="3400" b="1" i="0">
                <a:solidFill>
                  <a:srgbClr val="1B2430"/>
                </a:solidFill>
                <a:latin typeface="Calibri"/>
              </a:rPr>
              <a:t>Code and a finished run</a:t>
            </a:r>
          </a:p>
        </p:txBody>
      </p:sp>
      <p:cxnSp>
        <p:nvCxnSpPr>
          <p:cNvPr id="3" name="Connector 2"/>
          <p:cNvCxnSpPr/>
          <p:nvPr/>
        </p:nvCxnSpPr>
        <p:spPr>
          <a:xfrm>
            <a:off x="548640" y="1234440"/>
            <a:ext cx="11094415" cy="0"/>
          </a:xfrm>
          <a:prstGeom prst="line">
            <a:avLst/>
          </a:prstGeom>
          <a:ln w="12700">
            <a:solidFill>
              <a:srgbClr val="4C8BF5"/>
            </a:solidFill>
          </a:ln>
        </p:spPr>
      </p:cxnSp>
      <p:sp>
        <p:nvSpPr>
          <p:cNvPr id="4" name="TextBox 3"/>
          <p:cNvSpPr txBox="1"/>
          <p:nvPr/>
        </p:nvSpPr>
        <p:spPr>
          <a:xfrm>
            <a:off x="10911535" y="6126480"/>
            <a:ext cx="731520" cy="274320"/>
          </a:xfrm>
          <a:prstGeom prst="rect">
            <a:avLst/>
          </a:prstGeom>
          <a:noFill/>
        </p:spPr>
        <p:txBody>
          <a:bodyPr wrap="square" anchor="ctr" lIns="0" rIns="0" tIns="0" bIns="0">
            <a:spAutoFit/>
          </a:bodyPr>
          <a:lstStyle/>
          <a:p>
            <a:pPr algn="r">
              <a:lnSpc>
                <a:spcPct val="105000"/>
              </a:lnSpc>
            </a:pPr>
            <a:r>
              <a:rPr sz="1600" b="0" i="0">
                <a:solidFill>
                  <a:srgbClr val="6B7684"/>
                </a:solidFill>
                <a:latin typeface="Calibri"/>
              </a:rPr>
              <a:t>5</a:t>
            </a:r>
          </a:p>
        </p:txBody>
      </p:sp>
      <p:sp>
        <p:nvSpPr>
          <p:cNvPr id="5" name="TextBox 4"/>
          <p:cNvSpPr txBox="1"/>
          <p:nvPr/>
        </p:nvSpPr>
        <p:spPr>
          <a:xfrm>
            <a:off x="548640" y="1645920"/>
            <a:ext cx="4114800" cy="2926080"/>
          </a:xfrm>
          <a:prstGeom prst="rect">
            <a:avLst/>
          </a:prstGeom>
          <a:noFill/>
        </p:spPr>
        <p:txBody>
          <a:bodyPr wrap="square" anchor="t" lIns="0" rIns="0" tIns="0" bIns="0">
            <a:spAutoFit/>
          </a:bodyPr>
          <a:lstStyle/>
          <a:p>
            <a:pPr algn="l">
              <a:lnSpc>
                <a:spcPct val="110000"/>
              </a:lnSpc>
            </a:pPr>
            <a:r>
              <a:rPr sz="2200" b="1" i="0">
                <a:solidFill>
                  <a:srgbClr val="1B2430"/>
                </a:solidFill>
                <a:latin typeface="Calibri"/>
              </a:rPr>
              <a:t>Authors' code is public; I forked it.</a:t>
            </a:r>
          </a:p>
          <a:p>
            <a:pPr algn="l">
              <a:lnSpc>
                <a:spcPct val="110000"/>
              </a:lnSpc>
            </a:pPr>
            <a:r>
              <a:rPr sz="1000" b="0" i="0">
                <a:solidFill>
                  <a:srgbClr val="1B2430"/>
                </a:solidFill>
                <a:latin typeface="Calibri"/>
              </a:rPr>
              <a:t> </a:t>
            </a:r>
          </a:p>
          <a:p>
            <a:pPr algn="l">
              <a:lnSpc>
                <a:spcPct val="110000"/>
              </a:lnSpc>
            </a:pPr>
            <a:r>
              <a:rPr sz="2200" b="0" i="0">
                <a:solidFill>
                  <a:srgbClr val="1B2430"/>
                </a:solidFill>
                <a:latin typeface="Calibri"/>
              </a:rPr>
              <a:t>One Python driver replaces the authors' shell scripts and runs every split.</a:t>
            </a:r>
          </a:p>
        </p:txBody>
      </p:sp>
      <p:sp>
        <p:nvSpPr>
          <p:cNvPr id="6" name="Rounded Rectangle 5"/>
          <p:cNvSpPr/>
          <p:nvPr/>
        </p:nvSpPr>
        <p:spPr>
          <a:xfrm>
            <a:off x="4983480" y="1600200"/>
            <a:ext cx="6656832" cy="3611880"/>
          </a:xfrm>
          <a:prstGeom prst="roundRect">
            <a:avLst>
              <a:gd name="adj" fmla="val 8000"/>
            </a:avLst>
          </a:prstGeom>
          <a:solidFill>
            <a:srgbClr val="0B1020"/>
          </a:solidFill>
          <a:ln>
            <a:noFill/>
          </a:ln>
          <a:effectLst/>
        </p:spPr>
        <p:txBody>
          <a:bodyPr rtlCol="0" anchor="ctr"/>
          <a:lstStyle/>
          <a:p>
            <a:pPr algn="ctr"/>
          </a:p>
        </p:txBody>
      </p:sp>
      <p:sp>
        <p:nvSpPr>
          <p:cNvPr id="7" name="Oval 6"/>
          <p:cNvSpPr/>
          <p:nvPr/>
        </p:nvSpPr>
        <p:spPr>
          <a:xfrm>
            <a:off x="5212080" y="1801368"/>
            <a:ext cx="146304" cy="146304"/>
          </a:xfrm>
          <a:prstGeom prst="ellipse">
            <a:avLst/>
          </a:prstGeom>
          <a:solidFill>
            <a:srgbClr val="FF5F57"/>
          </a:solidFill>
          <a:ln>
            <a:noFill/>
          </a:ln>
          <a:effectLst/>
        </p:spPr>
        <p:txBody>
          <a:bodyPr rtlCol="0" anchor="ctr"/>
          <a:lstStyle/>
          <a:p>
            <a:pPr algn="ctr"/>
          </a:p>
        </p:txBody>
      </p:sp>
      <p:sp>
        <p:nvSpPr>
          <p:cNvPr id="8" name="Oval 7"/>
          <p:cNvSpPr/>
          <p:nvPr/>
        </p:nvSpPr>
        <p:spPr>
          <a:xfrm>
            <a:off x="5486400" y="1801368"/>
            <a:ext cx="146304" cy="146304"/>
          </a:xfrm>
          <a:prstGeom prst="ellipse">
            <a:avLst/>
          </a:prstGeom>
          <a:solidFill>
            <a:srgbClr val="FEBC2E"/>
          </a:solidFill>
          <a:ln>
            <a:noFill/>
          </a:ln>
          <a:effectLst/>
        </p:spPr>
        <p:txBody>
          <a:bodyPr rtlCol="0" anchor="ctr"/>
          <a:lstStyle/>
          <a:p>
            <a:pPr algn="ctr"/>
          </a:p>
        </p:txBody>
      </p:sp>
      <p:sp>
        <p:nvSpPr>
          <p:cNvPr id="9" name="Oval 8"/>
          <p:cNvSpPr/>
          <p:nvPr/>
        </p:nvSpPr>
        <p:spPr>
          <a:xfrm>
            <a:off x="5760720" y="1801368"/>
            <a:ext cx="146304" cy="146304"/>
          </a:xfrm>
          <a:prstGeom prst="ellipse">
            <a:avLst/>
          </a:prstGeom>
          <a:solidFill>
            <a:srgbClr val="28C840"/>
          </a:solidFill>
          <a:ln>
            <a:noFill/>
          </a:ln>
          <a:effectLst/>
        </p:spPr>
        <p:txBody>
          <a:bodyPr rtlCol="0" anchor="ctr"/>
          <a:lstStyle/>
          <a:p>
            <a:pPr algn="ctr"/>
          </a:p>
        </p:txBody>
      </p:sp>
      <p:sp>
        <p:nvSpPr>
          <p:cNvPr id="10" name="TextBox 9"/>
          <p:cNvSpPr txBox="1"/>
          <p:nvPr/>
        </p:nvSpPr>
        <p:spPr>
          <a:xfrm>
            <a:off x="5257800" y="2240280"/>
            <a:ext cx="6199632" cy="2834640"/>
          </a:xfrm>
          <a:prstGeom prst="rect">
            <a:avLst/>
          </a:prstGeom>
          <a:noFill/>
        </p:spPr>
        <p:txBody>
          <a:bodyPr wrap="square" anchor="t" lIns="0" rIns="0" tIns="0" bIns="0">
            <a:spAutoFit/>
          </a:bodyPr>
          <a:lstStyle/>
          <a:p>
            <a:pPr algn="l">
              <a:lnSpc>
                <a:spcPct val="110000"/>
              </a:lnSpc>
            </a:pPr>
            <a:r>
              <a:rPr sz="1600" b="1" i="0">
                <a:solidFill>
                  <a:srgbClr val="7FB0FF"/>
                </a:solidFill>
                <a:latin typeface="Consolas"/>
              </a:rPr>
              <a:t>$ </a:t>
            </a:r>
            <a:r>
              <a:rPr sz="1600" b="0" i="0">
                <a:solidFill>
                  <a:srgbClr val="D7E0EE"/>
                </a:solidFill>
                <a:latin typeface="Consolas"/>
              </a:rPr>
              <a:t>python run_experiments.py --dry-run \</a:t>
            </a:r>
          </a:p>
          <a:p>
            <a:pPr algn="l">
              <a:lnSpc>
                <a:spcPct val="110000"/>
              </a:lnSpc>
            </a:pPr>
            <a:r>
              <a:rPr sz="1600" b="1" i="0">
                <a:solidFill>
                  <a:srgbClr val="7FB0FF"/>
                </a:solidFill>
                <a:latin typeface="Consolas"/>
              </a:rPr>
              <a:t>  </a:t>
            </a:r>
            <a:r>
              <a:rPr sz="1600" b="0" i="0">
                <a:solidFill>
                  <a:srgbClr val="D7E0EE"/>
                </a:solidFill>
                <a:latin typeface="Consolas"/>
              </a:rPr>
              <a:t>  --datasets fewrel_defon --splits 1 \</a:t>
            </a:r>
          </a:p>
          <a:p>
            <a:pPr algn="l">
              <a:lnSpc>
                <a:spcPct val="110000"/>
              </a:lnSpc>
            </a:pPr>
            <a:r>
              <a:rPr sz="1600" b="1" i="0">
                <a:solidFill>
                  <a:srgbClr val="7FB0FF"/>
                </a:solidFill>
                <a:latin typeface="Consolas"/>
              </a:rPr>
              <a:t>  </a:t>
            </a:r>
            <a:r>
              <a:rPr sz="1600" b="0" i="0">
                <a:solidFill>
                  <a:srgbClr val="D7E0EE"/>
                </a:solidFill>
                <a:latin typeface="Consolas"/>
              </a:rPr>
              <a:t>  --stages initial \</a:t>
            </a:r>
          </a:p>
          <a:p>
            <a:pPr algn="l">
              <a:lnSpc>
                <a:spcPct val="110000"/>
              </a:lnSpc>
            </a:pPr>
            <a:r>
              <a:rPr sz="1600" b="1" i="0">
                <a:solidFill>
                  <a:srgbClr val="7FB0FF"/>
                </a:solidFill>
                <a:latin typeface="Consolas"/>
              </a:rPr>
              <a:t>  </a:t>
            </a:r>
            <a:r>
              <a:rPr sz="1600" b="0" i="0">
                <a:solidFill>
                  <a:srgbClr val="D7E0EE"/>
                </a:solidFill>
                <a:latin typeface="Consolas"/>
              </a:rPr>
              <a:t>  --data-root reproduce_main_data/data \</a:t>
            </a:r>
          </a:p>
          <a:p>
            <a:pPr algn="l">
              <a:lnSpc>
                <a:spcPct val="110000"/>
              </a:lnSpc>
            </a:pPr>
            <a:r>
              <a:rPr sz="1600" b="1" i="0">
                <a:solidFill>
                  <a:srgbClr val="7FB0FF"/>
                </a:solidFill>
                <a:latin typeface="Consolas"/>
              </a:rPr>
              <a:t>  </a:t>
            </a:r>
            <a:r>
              <a:rPr sz="1600" b="0" i="0">
                <a:solidFill>
                  <a:srgbClr val="D7E0EE"/>
                </a:solidFill>
                <a:latin typeface="Consolas"/>
              </a:rPr>
              <a:t>  --device-profile gpu</a:t>
            </a:r>
          </a:p>
          <a:p>
            <a:pPr algn="l">
              <a:lnSpc>
                <a:spcPct val="110000"/>
              </a:lnSpc>
            </a:pPr>
            <a:r>
              <a:rPr sz="800" b="0" i="0">
                <a:solidFill>
                  <a:srgbClr val="1B2430"/>
                </a:solidFill>
                <a:latin typeface="Consolas"/>
              </a:rPr>
              <a:t> </a:t>
            </a:r>
          </a:p>
          <a:p>
            <a:pPr algn="l">
              <a:lnSpc>
                <a:spcPct val="110000"/>
              </a:lnSpc>
            </a:pPr>
            <a:r>
              <a:rPr sz="1600" b="1" i="0">
                <a:solidFill>
                  <a:srgbClr val="7FB0FF"/>
                </a:solidFill>
                <a:latin typeface="Consolas"/>
              </a:rPr>
              <a:t>$ </a:t>
            </a:r>
            <a:r>
              <a:rPr sz="1600" b="0" i="0">
                <a:solidFill>
                  <a:srgbClr val="D7E0EE"/>
                </a:solidFill>
                <a:latin typeface="Consolas"/>
              </a:rPr>
              <a:t>tail -n 5 \</a:t>
            </a:r>
          </a:p>
          <a:p>
            <a:pPr algn="l">
              <a:lnSpc>
                <a:spcPct val="110000"/>
              </a:lnSpc>
            </a:pPr>
            <a:r>
              <a:rPr sz="1600" b="1" i="0">
                <a:solidFill>
                  <a:srgbClr val="7FB0FF"/>
                </a:solidFill>
                <a:latin typeface="Consolas"/>
              </a:rPr>
              <a:t>  </a:t>
            </a:r>
            <a:r>
              <a:rPr sz="1600" b="0" i="0">
                <a:solidFill>
                  <a:srgbClr val="D7E0EE"/>
                </a:solidFill>
                <a:latin typeface="Consolas"/>
              </a:rPr>
              <a:t>  results/fewrel_defon_1/initial/run.log</a:t>
            </a:r>
          </a:p>
          <a:p>
            <a:pPr algn="l">
              <a:lnSpc>
                <a:spcPct val="110000"/>
              </a:lnSpc>
            </a:pPr>
            <a:r>
              <a:rPr sz="800" b="0" i="0">
                <a:solidFill>
                  <a:srgbClr val="1B2430"/>
                </a:solidFill>
                <a:latin typeface="Consolas"/>
              </a:rPr>
              <a:t> </a:t>
            </a:r>
          </a:p>
          <a:p>
            <a:pPr algn="l">
              <a:lnSpc>
                <a:spcPct val="110000"/>
              </a:lnSpc>
            </a:pPr>
            <a:r>
              <a:rPr sz="1600" b="1" i="0">
                <a:solidFill>
                  <a:srgbClr val="7FB0FF"/>
                </a:solidFill>
                <a:latin typeface="Consolas"/>
              </a:rPr>
              <a:t>$ </a:t>
            </a:r>
            <a:r>
              <a:rPr sz="1600" b="0" i="0">
                <a:solidFill>
                  <a:srgbClr val="D7E0EE"/>
                </a:solidFill>
                <a:latin typeface="Consolas"/>
              </a:rPr>
              <a:t>cat \</a:t>
            </a:r>
          </a:p>
          <a:p>
            <a:pPr algn="l">
              <a:lnSpc>
                <a:spcPct val="110000"/>
              </a:lnSpc>
            </a:pPr>
            <a:r>
              <a:rPr sz="1600" b="1" i="0">
                <a:solidFill>
                  <a:srgbClr val="7FB0FF"/>
                </a:solidFill>
                <a:latin typeface="Consolas"/>
              </a:rPr>
              <a:t>  </a:t>
            </a:r>
            <a:r>
              <a:rPr sz="1600" b="0" i="0">
                <a:solidFill>
                  <a:srgbClr val="D7E0EE"/>
                </a:solidFill>
                <a:latin typeface="Consolas"/>
              </a:rPr>
              <a:t>  results/fewrel_defon_1/initial/metrics.json</a:t>
            </a:r>
          </a:p>
          <a:p>
            <a:pPr algn="l">
              <a:lnSpc>
                <a:spcPct val="110000"/>
              </a:lnSpc>
            </a:pPr>
            <a:r>
              <a:rPr sz="800" b="0" i="0">
                <a:solidFill>
                  <a:srgbClr val="1B2430"/>
                </a:solidFill>
                <a:latin typeface="Consolas"/>
              </a:rPr>
              <a:t> </a:t>
            </a:r>
          </a:p>
        </p:txBody>
      </p:sp>
      <p:sp>
        <p:nvSpPr>
          <p:cNvPr id="11" name="TextBox 10"/>
          <p:cNvSpPr txBox="1"/>
          <p:nvPr/>
        </p:nvSpPr>
        <p:spPr>
          <a:xfrm>
            <a:off x="548640" y="5486400"/>
            <a:ext cx="11094415" cy="457200"/>
          </a:xfrm>
          <a:prstGeom prst="rect">
            <a:avLst/>
          </a:prstGeom>
          <a:noFill/>
        </p:spPr>
        <p:txBody>
          <a:bodyPr wrap="square" anchor="ctr" lIns="0" rIns="0" tIns="0" bIns="0">
            <a:spAutoFit/>
          </a:bodyPr>
          <a:lstStyle/>
          <a:p>
            <a:pPr algn="l">
              <a:lnSpc>
                <a:spcPct val="105000"/>
              </a:lnSpc>
            </a:pPr>
            <a:r>
              <a:rPr sz="2000" b="0" i="1">
                <a:solidFill>
                  <a:srgbClr val="6B7684"/>
                </a:solidFill>
                <a:latin typeface="Calibri"/>
              </a:rPr>
              <a:t>Finished run — one split takes hours.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640080"/>
          </a:xfrm>
          <a:prstGeom prst="rect">
            <a:avLst/>
          </a:prstGeom>
          <a:noFill/>
        </p:spPr>
        <p:txBody>
          <a:bodyPr wrap="square" anchor="ctr" lIns="0" rIns="0" tIns="0" bIns="0">
            <a:spAutoFit/>
          </a:bodyPr>
          <a:lstStyle/>
          <a:p>
            <a:pPr algn="l">
              <a:lnSpc>
                <a:spcPct val="105000"/>
              </a:lnSpc>
            </a:pPr>
            <a:r>
              <a:rPr sz="3400" b="1" i="0">
                <a:solidFill>
                  <a:srgbClr val="1B2430"/>
                </a:solidFill>
                <a:latin typeface="Calibri"/>
              </a:rPr>
              <a:t>Replication status</a:t>
            </a:r>
          </a:p>
        </p:txBody>
      </p:sp>
      <p:cxnSp>
        <p:nvCxnSpPr>
          <p:cNvPr id="3" name="Connector 2"/>
          <p:cNvCxnSpPr/>
          <p:nvPr/>
        </p:nvCxnSpPr>
        <p:spPr>
          <a:xfrm>
            <a:off x="548640" y="1234440"/>
            <a:ext cx="11094415" cy="0"/>
          </a:xfrm>
          <a:prstGeom prst="line">
            <a:avLst/>
          </a:prstGeom>
          <a:ln w="12700">
            <a:solidFill>
              <a:srgbClr val="4C8BF5"/>
            </a:solidFill>
          </a:ln>
        </p:spPr>
      </p:cxnSp>
      <p:sp>
        <p:nvSpPr>
          <p:cNvPr id="4" name="TextBox 3"/>
          <p:cNvSpPr txBox="1"/>
          <p:nvPr/>
        </p:nvSpPr>
        <p:spPr>
          <a:xfrm>
            <a:off x="10911535" y="6126480"/>
            <a:ext cx="731520" cy="274320"/>
          </a:xfrm>
          <a:prstGeom prst="rect">
            <a:avLst/>
          </a:prstGeom>
          <a:noFill/>
        </p:spPr>
        <p:txBody>
          <a:bodyPr wrap="square" anchor="ctr" lIns="0" rIns="0" tIns="0" bIns="0">
            <a:spAutoFit/>
          </a:bodyPr>
          <a:lstStyle/>
          <a:p>
            <a:pPr algn="r">
              <a:lnSpc>
                <a:spcPct val="105000"/>
              </a:lnSpc>
            </a:pPr>
            <a:r>
              <a:rPr sz="1600" b="0" i="0">
                <a:solidFill>
                  <a:srgbClr val="6B7684"/>
                </a:solidFill>
                <a:latin typeface="Calibri"/>
              </a:rPr>
              <a:t>6</a:t>
            </a:r>
          </a:p>
        </p:txBody>
      </p:sp>
      <p:sp>
        <p:nvSpPr>
          <p:cNvPr id="5" name="Rectangle 4"/>
          <p:cNvSpPr/>
          <p:nvPr/>
        </p:nvSpPr>
        <p:spPr>
          <a:xfrm>
            <a:off x="548640" y="1645920"/>
            <a:ext cx="2035454" cy="548640"/>
          </a:xfrm>
          <a:prstGeom prst="rect">
            <a:avLst/>
          </a:prstGeom>
          <a:solidFill>
            <a:srgbClr val="1B2430"/>
          </a:solidFill>
          <a:ln>
            <a:noFill/>
          </a:ln>
          <a:effectLst/>
        </p:spPr>
        <p:txBody>
          <a:bodyPr rtlCol="0" anchor="ctr"/>
          <a:lstStyle/>
          <a:p>
            <a:pPr algn="ctr"/>
          </a:p>
        </p:txBody>
      </p:sp>
      <p:sp>
        <p:nvSpPr>
          <p:cNvPr id="6" name="TextBox 5"/>
          <p:cNvSpPr txBox="1"/>
          <p:nvPr/>
        </p:nvSpPr>
        <p:spPr>
          <a:xfrm>
            <a:off x="685800" y="1645920"/>
            <a:ext cx="1852574" cy="548640"/>
          </a:xfrm>
          <a:prstGeom prst="rect">
            <a:avLst/>
          </a:prstGeom>
          <a:noFill/>
        </p:spPr>
        <p:txBody>
          <a:bodyPr wrap="square" anchor="ctr" lIns="0" rIns="0" tIns="0" bIns="0">
            <a:spAutoFit/>
          </a:bodyPr>
          <a:lstStyle/>
          <a:p>
            <a:pPr algn="l">
              <a:lnSpc>
                <a:spcPct val="105000"/>
              </a:lnSpc>
            </a:pPr>
            <a:r>
              <a:rPr sz="1600" b="1" i="0">
                <a:solidFill>
                  <a:srgbClr val="E6ECF5"/>
                </a:solidFill>
                <a:latin typeface="Calibri"/>
              </a:rPr>
              <a:t>Follow-up F1 (%)</a:t>
            </a:r>
          </a:p>
        </p:txBody>
      </p:sp>
      <p:sp>
        <p:nvSpPr>
          <p:cNvPr id="7" name="Rectangle 6"/>
          <p:cNvSpPr/>
          <p:nvPr/>
        </p:nvSpPr>
        <p:spPr>
          <a:xfrm>
            <a:off x="2584094" y="1645920"/>
            <a:ext cx="1405432" cy="548640"/>
          </a:xfrm>
          <a:prstGeom prst="rect">
            <a:avLst/>
          </a:prstGeom>
          <a:solidFill>
            <a:srgbClr val="1B2430"/>
          </a:solidFill>
          <a:ln>
            <a:noFill/>
          </a:ln>
          <a:effectLst/>
        </p:spPr>
        <p:txBody>
          <a:bodyPr rtlCol="0" anchor="ctr"/>
          <a:lstStyle/>
          <a:p>
            <a:pPr algn="ctr"/>
          </a:p>
        </p:txBody>
      </p:sp>
      <p:sp>
        <p:nvSpPr>
          <p:cNvPr id="8" name="TextBox 7"/>
          <p:cNvSpPr txBox="1"/>
          <p:nvPr/>
        </p:nvSpPr>
        <p:spPr>
          <a:xfrm>
            <a:off x="2721254" y="1645920"/>
            <a:ext cx="1222552" cy="548640"/>
          </a:xfrm>
          <a:prstGeom prst="rect">
            <a:avLst/>
          </a:prstGeom>
          <a:noFill/>
        </p:spPr>
        <p:txBody>
          <a:bodyPr wrap="square" anchor="ctr" lIns="0" rIns="0" tIns="0" bIns="0">
            <a:spAutoFit/>
          </a:bodyPr>
          <a:lstStyle/>
          <a:p>
            <a:pPr algn="ctr">
              <a:lnSpc>
                <a:spcPct val="105000"/>
              </a:lnSpc>
            </a:pPr>
            <a:r>
              <a:rPr sz="1600" b="1" i="0">
                <a:solidFill>
                  <a:srgbClr val="E6ECF5"/>
                </a:solidFill>
                <a:latin typeface="Calibri"/>
              </a:rPr>
              <a:t>Mine</a:t>
            </a:r>
          </a:p>
        </p:txBody>
      </p:sp>
      <p:sp>
        <p:nvSpPr>
          <p:cNvPr id="9" name="Rectangle 8"/>
          <p:cNvSpPr/>
          <p:nvPr/>
        </p:nvSpPr>
        <p:spPr>
          <a:xfrm>
            <a:off x="3989527" y="1645920"/>
            <a:ext cx="1405432" cy="548640"/>
          </a:xfrm>
          <a:prstGeom prst="rect">
            <a:avLst/>
          </a:prstGeom>
          <a:solidFill>
            <a:srgbClr val="1B2430"/>
          </a:solidFill>
          <a:ln>
            <a:noFill/>
          </a:ln>
          <a:effectLst/>
        </p:spPr>
        <p:txBody>
          <a:bodyPr rtlCol="0" anchor="ctr"/>
          <a:lstStyle/>
          <a:p>
            <a:pPr algn="ctr"/>
          </a:p>
        </p:txBody>
      </p:sp>
      <p:sp>
        <p:nvSpPr>
          <p:cNvPr id="10" name="TextBox 9"/>
          <p:cNvSpPr txBox="1"/>
          <p:nvPr/>
        </p:nvSpPr>
        <p:spPr>
          <a:xfrm>
            <a:off x="4126687" y="1645920"/>
            <a:ext cx="1222552" cy="548640"/>
          </a:xfrm>
          <a:prstGeom prst="rect">
            <a:avLst/>
          </a:prstGeom>
          <a:noFill/>
        </p:spPr>
        <p:txBody>
          <a:bodyPr wrap="square" anchor="ctr" lIns="0" rIns="0" tIns="0" bIns="0">
            <a:spAutoFit/>
          </a:bodyPr>
          <a:lstStyle/>
          <a:p>
            <a:pPr algn="ctr">
              <a:lnSpc>
                <a:spcPct val="105000"/>
              </a:lnSpc>
            </a:pPr>
            <a:r>
              <a:rPr sz="1600" b="1" i="0">
                <a:solidFill>
                  <a:srgbClr val="E6ECF5"/>
                </a:solidFill>
                <a:latin typeface="Calibri"/>
              </a:rPr>
              <a:t>Paper</a:t>
            </a:r>
          </a:p>
        </p:txBody>
      </p:sp>
      <p:sp>
        <p:nvSpPr>
          <p:cNvPr id="11" name="Rectangle 10"/>
          <p:cNvSpPr/>
          <p:nvPr/>
        </p:nvSpPr>
        <p:spPr>
          <a:xfrm>
            <a:off x="548640" y="2194560"/>
            <a:ext cx="4846320" cy="731520"/>
          </a:xfrm>
          <a:prstGeom prst="rect">
            <a:avLst/>
          </a:prstGeom>
          <a:solidFill>
            <a:srgbClr val="F2F5FA"/>
          </a:solidFill>
          <a:ln>
            <a:noFill/>
          </a:ln>
          <a:effectLst/>
        </p:spPr>
        <p:txBody>
          <a:bodyPr rtlCol="0" anchor="ctr"/>
          <a:lstStyle/>
          <a:p>
            <a:pPr algn="ctr"/>
          </a:p>
        </p:txBody>
      </p:sp>
      <p:sp>
        <p:nvSpPr>
          <p:cNvPr id="12" name="TextBox 11"/>
          <p:cNvSpPr txBox="1"/>
          <p:nvPr/>
        </p:nvSpPr>
        <p:spPr>
          <a:xfrm>
            <a:off x="685800" y="2194560"/>
            <a:ext cx="1852574" cy="731520"/>
          </a:xfrm>
          <a:prstGeom prst="rect">
            <a:avLst/>
          </a:prstGeom>
          <a:noFill/>
        </p:spPr>
        <p:txBody>
          <a:bodyPr wrap="square" anchor="ctr" lIns="0" rIns="0" tIns="0" bIns="0">
            <a:spAutoFit/>
          </a:bodyPr>
          <a:lstStyle/>
          <a:p>
            <a:pPr algn="l">
              <a:lnSpc>
                <a:spcPct val="105000"/>
              </a:lnSpc>
            </a:pPr>
            <a:r>
              <a:rPr sz="2000" b="1" i="0">
                <a:solidFill>
                  <a:srgbClr val="1B2430"/>
                </a:solidFill>
                <a:latin typeface="Calibri"/>
              </a:rPr>
              <a:t>FewRel</a:t>
            </a:r>
          </a:p>
        </p:txBody>
      </p:sp>
      <p:sp>
        <p:nvSpPr>
          <p:cNvPr id="13" name="TextBox 12"/>
          <p:cNvSpPr txBox="1"/>
          <p:nvPr/>
        </p:nvSpPr>
        <p:spPr>
          <a:xfrm>
            <a:off x="2584094" y="2194560"/>
            <a:ext cx="1405432" cy="731520"/>
          </a:xfrm>
          <a:prstGeom prst="rect">
            <a:avLst/>
          </a:prstGeom>
          <a:noFill/>
        </p:spPr>
        <p:txBody>
          <a:bodyPr wrap="square" anchor="ctr" lIns="0" rIns="0" tIns="0" bIns="0">
            <a:spAutoFit/>
          </a:bodyPr>
          <a:lstStyle/>
          <a:p>
            <a:pPr algn="ctr">
              <a:lnSpc>
                <a:spcPct val="105000"/>
              </a:lnSpc>
            </a:pPr>
            <a:r>
              <a:rPr sz="3200" b="1" i="0">
                <a:solidFill>
                  <a:srgbClr val="E8B931"/>
                </a:solidFill>
                <a:latin typeface="Calibri"/>
              </a:rPr>
              <a:t>69.6</a:t>
            </a:r>
          </a:p>
        </p:txBody>
      </p:sp>
      <p:sp>
        <p:nvSpPr>
          <p:cNvPr id="14" name="TextBox 13"/>
          <p:cNvSpPr txBox="1"/>
          <p:nvPr/>
        </p:nvSpPr>
        <p:spPr>
          <a:xfrm>
            <a:off x="3989527" y="2194560"/>
            <a:ext cx="1405432" cy="731520"/>
          </a:xfrm>
          <a:prstGeom prst="rect">
            <a:avLst/>
          </a:prstGeom>
          <a:noFill/>
        </p:spPr>
        <p:txBody>
          <a:bodyPr wrap="square" anchor="ctr" lIns="0" rIns="0" tIns="0" bIns="0">
            <a:spAutoFit/>
          </a:bodyPr>
          <a:lstStyle/>
          <a:p>
            <a:pPr algn="ctr">
              <a:lnSpc>
                <a:spcPct val="105000"/>
              </a:lnSpc>
            </a:pPr>
            <a:r>
              <a:rPr sz="2400" b="0" i="0">
                <a:solidFill>
                  <a:srgbClr val="6B7684"/>
                </a:solidFill>
                <a:latin typeface="Calibri"/>
              </a:rPr>
              <a:t>74.6</a:t>
            </a:r>
          </a:p>
        </p:txBody>
      </p:sp>
      <p:sp>
        <p:nvSpPr>
          <p:cNvPr id="15" name="Rectangle 14"/>
          <p:cNvSpPr/>
          <p:nvPr/>
        </p:nvSpPr>
        <p:spPr>
          <a:xfrm>
            <a:off x="548640" y="2926080"/>
            <a:ext cx="4846320" cy="731520"/>
          </a:xfrm>
          <a:prstGeom prst="rect">
            <a:avLst/>
          </a:prstGeom>
          <a:solidFill>
            <a:srgbClr val="FFFFFF"/>
          </a:solidFill>
          <a:ln>
            <a:noFill/>
          </a:ln>
          <a:effectLst/>
        </p:spPr>
        <p:txBody>
          <a:bodyPr rtlCol="0" anchor="ctr"/>
          <a:lstStyle/>
          <a:p>
            <a:pPr algn="ctr"/>
          </a:p>
        </p:txBody>
      </p:sp>
      <p:sp>
        <p:nvSpPr>
          <p:cNvPr id="16" name="TextBox 15"/>
          <p:cNvSpPr txBox="1"/>
          <p:nvPr/>
        </p:nvSpPr>
        <p:spPr>
          <a:xfrm>
            <a:off x="685800" y="2926080"/>
            <a:ext cx="1852574" cy="731520"/>
          </a:xfrm>
          <a:prstGeom prst="rect">
            <a:avLst/>
          </a:prstGeom>
          <a:noFill/>
        </p:spPr>
        <p:txBody>
          <a:bodyPr wrap="square" anchor="ctr" lIns="0" rIns="0" tIns="0" bIns="0">
            <a:spAutoFit/>
          </a:bodyPr>
          <a:lstStyle/>
          <a:p>
            <a:pPr algn="l">
              <a:lnSpc>
                <a:spcPct val="105000"/>
              </a:lnSpc>
            </a:pPr>
            <a:r>
              <a:rPr sz="2000" b="1" i="0">
                <a:solidFill>
                  <a:srgbClr val="1B2430"/>
                </a:solidFill>
                <a:latin typeface="Calibri"/>
              </a:rPr>
              <a:t>WikiZSL</a:t>
            </a:r>
          </a:p>
        </p:txBody>
      </p:sp>
      <p:sp>
        <p:nvSpPr>
          <p:cNvPr id="17" name="TextBox 16"/>
          <p:cNvSpPr txBox="1"/>
          <p:nvPr/>
        </p:nvSpPr>
        <p:spPr>
          <a:xfrm>
            <a:off x="2584094" y="2926080"/>
            <a:ext cx="1405432" cy="731520"/>
          </a:xfrm>
          <a:prstGeom prst="rect">
            <a:avLst/>
          </a:prstGeom>
          <a:noFill/>
        </p:spPr>
        <p:txBody>
          <a:bodyPr wrap="square" anchor="ctr" lIns="0" rIns="0" tIns="0" bIns="0">
            <a:spAutoFit/>
          </a:bodyPr>
          <a:lstStyle/>
          <a:p>
            <a:pPr algn="ctr">
              <a:lnSpc>
                <a:spcPct val="105000"/>
              </a:lnSpc>
            </a:pPr>
            <a:r>
              <a:rPr sz="3200" b="1" i="0">
                <a:solidFill>
                  <a:srgbClr val="E8B931"/>
                </a:solidFill>
                <a:latin typeface="Calibri"/>
              </a:rPr>
              <a:t>45.9</a:t>
            </a:r>
          </a:p>
        </p:txBody>
      </p:sp>
      <p:sp>
        <p:nvSpPr>
          <p:cNvPr id="18" name="TextBox 17"/>
          <p:cNvSpPr txBox="1"/>
          <p:nvPr/>
        </p:nvSpPr>
        <p:spPr>
          <a:xfrm>
            <a:off x="3989527" y="2926080"/>
            <a:ext cx="1405432" cy="731520"/>
          </a:xfrm>
          <a:prstGeom prst="rect">
            <a:avLst/>
          </a:prstGeom>
          <a:noFill/>
        </p:spPr>
        <p:txBody>
          <a:bodyPr wrap="square" anchor="ctr" lIns="0" rIns="0" tIns="0" bIns="0">
            <a:spAutoFit/>
          </a:bodyPr>
          <a:lstStyle/>
          <a:p>
            <a:pPr algn="ctr">
              <a:lnSpc>
                <a:spcPct val="105000"/>
              </a:lnSpc>
            </a:pPr>
            <a:r>
              <a:rPr sz="2400" b="0" i="0">
                <a:solidFill>
                  <a:srgbClr val="6B7684"/>
                </a:solidFill>
                <a:latin typeface="Calibri"/>
              </a:rPr>
              <a:t>47.8</a:t>
            </a:r>
          </a:p>
        </p:txBody>
      </p:sp>
      <p:cxnSp>
        <p:nvCxnSpPr>
          <p:cNvPr id="19" name="Connector 18"/>
          <p:cNvCxnSpPr/>
          <p:nvPr/>
        </p:nvCxnSpPr>
        <p:spPr>
          <a:xfrm>
            <a:off x="548640" y="3657600"/>
            <a:ext cx="4846319" cy="0"/>
          </a:xfrm>
          <a:prstGeom prst="line">
            <a:avLst/>
          </a:prstGeom>
          <a:ln w="9525">
            <a:solidFill>
              <a:srgbClr val="C9D1DC"/>
            </a:solidFill>
          </a:ln>
        </p:spPr>
      </p:cxnSp>
      <p:sp>
        <p:nvSpPr>
          <p:cNvPr id="20" name="TextBox 19"/>
          <p:cNvSpPr txBox="1"/>
          <p:nvPr/>
        </p:nvSpPr>
        <p:spPr>
          <a:xfrm>
            <a:off x="548640" y="3886200"/>
            <a:ext cx="4846320" cy="914400"/>
          </a:xfrm>
          <a:prstGeom prst="rect">
            <a:avLst/>
          </a:prstGeom>
          <a:noFill/>
        </p:spPr>
        <p:txBody>
          <a:bodyPr wrap="square" anchor="t" lIns="0" rIns="0" tIns="0" bIns="0">
            <a:spAutoFit/>
          </a:bodyPr>
          <a:lstStyle/>
          <a:p>
            <a:pPr algn="l">
              <a:lnSpc>
                <a:spcPct val="105000"/>
              </a:lnSpc>
            </a:pPr>
            <a:r>
              <a:rPr sz="2000" b="0" i="0">
                <a:solidFill>
                  <a:srgbClr val="6B7684"/>
                </a:solidFill>
                <a:latin typeface="Calibri"/>
              </a:rPr>
              <a:t>All eight splits finished, using the authors' cached GPT-4o examples.</a:t>
            </a:r>
          </a:p>
        </p:txBody>
      </p:sp>
      <p:pic>
        <p:nvPicPr>
          <p:cNvPr id="21" name="Picture 20" descr="f1_comparison.png"/>
          <p:cNvPicPr>
            <a:picLocks noChangeAspect="1"/>
          </p:cNvPicPr>
          <p:nvPr/>
        </p:nvPicPr>
        <p:blipFill>
          <a:blip r:embed="rId2"/>
          <a:stretch>
            <a:fillRect/>
          </a:stretch>
        </p:blipFill>
        <p:spPr>
          <a:xfrm>
            <a:off x="5715000" y="1554480"/>
            <a:ext cx="5925312" cy="3610737"/>
          </a:xfrm>
          <a:prstGeom prst="rect">
            <a:avLst/>
          </a:prstGeom>
        </p:spPr>
      </p:pic>
      <p:sp>
        <p:nvSpPr>
          <p:cNvPr id="22" name="TextBox 21"/>
          <p:cNvSpPr txBox="1"/>
          <p:nvPr/>
        </p:nvSpPr>
        <p:spPr>
          <a:xfrm>
            <a:off x="548640" y="5440680"/>
            <a:ext cx="3108960" cy="502920"/>
          </a:xfrm>
          <a:prstGeom prst="rect">
            <a:avLst/>
          </a:prstGeom>
          <a:noFill/>
        </p:spPr>
        <p:txBody>
          <a:bodyPr wrap="square" anchor="ctr" lIns="0" rIns="0" tIns="0" bIns="0">
            <a:spAutoFit/>
          </a:bodyPr>
          <a:lstStyle/>
          <a:p>
            <a:pPr algn="l">
              <a:lnSpc>
                <a:spcPct val="105000"/>
              </a:lnSpc>
            </a:pPr>
            <a:r>
              <a:rPr sz="2000" b="1" i="0">
                <a:solidFill>
                  <a:srgbClr val="1B2430"/>
                </a:solidFill>
                <a:latin typeface="Calibri"/>
              </a:rPr>
              <a:t>Run on rented cloud GPUs:</a:t>
            </a:r>
          </a:p>
        </p:txBody>
      </p:sp>
      <p:sp>
        <p:nvSpPr>
          <p:cNvPr id="23" name="FILL_PLACEHOLDER"/>
          <p:cNvSpPr/>
          <p:nvPr/>
        </p:nvSpPr>
        <p:spPr>
          <a:xfrm>
            <a:off x="3703320" y="5440680"/>
            <a:ext cx="4937760" cy="502920"/>
          </a:xfrm>
          <a:prstGeom prst="roundRect">
            <a:avLst>
              <a:gd name="adj" fmla="val 8000"/>
            </a:avLst>
          </a:prstGeom>
          <a:solidFill>
            <a:srgbClr val="FBEFC4"/>
          </a:solidFill>
          <a:ln w="19050">
            <a:solidFill>
              <a:srgbClr val="E8B931"/>
            </a:solidFill>
          </a:ln>
          <a:effectLst/>
        </p:spPr>
        <p:txBody>
          <a:bodyPr rtlCol="0" anchor="ctr" lIns="109728" rIns="109728" tIns="36576" bIns="36576" wrap="square"/>
          <a:lstStyle/>
          <a:p>
            <a:pPr algn="ctr"/>
            <a:r>
              <a:rPr sz="2000" b="1">
                <a:solidFill>
                  <a:srgbClr val="1B2430"/>
                </a:solidFill>
                <a:latin typeface="Calibri"/>
              </a:rPr>
              <a:t>[FILL: GPU model, Python, PyTorch]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640080"/>
          </a:xfrm>
          <a:prstGeom prst="rect">
            <a:avLst/>
          </a:prstGeom>
          <a:noFill/>
        </p:spPr>
        <p:txBody>
          <a:bodyPr wrap="square" anchor="ctr" lIns="0" rIns="0" tIns="0" bIns="0">
            <a:spAutoFit/>
          </a:bodyPr>
          <a:lstStyle/>
          <a:p>
            <a:pPr algn="l">
              <a:lnSpc>
                <a:spcPct val="105000"/>
              </a:lnSpc>
            </a:pPr>
            <a:r>
              <a:rPr sz="3400" b="1" i="0">
                <a:solidFill>
                  <a:srgbClr val="1B2430"/>
                </a:solidFill>
                <a:latin typeface="Calibri"/>
              </a:rPr>
              <a:t>New datasets</a:t>
            </a:r>
          </a:p>
        </p:txBody>
      </p:sp>
      <p:cxnSp>
        <p:nvCxnSpPr>
          <p:cNvPr id="3" name="Connector 2"/>
          <p:cNvCxnSpPr/>
          <p:nvPr/>
        </p:nvCxnSpPr>
        <p:spPr>
          <a:xfrm>
            <a:off x="548640" y="1234440"/>
            <a:ext cx="11094415" cy="0"/>
          </a:xfrm>
          <a:prstGeom prst="line">
            <a:avLst/>
          </a:prstGeom>
          <a:ln w="12700">
            <a:solidFill>
              <a:srgbClr val="4C8BF5"/>
            </a:solidFill>
          </a:ln>
        </p:spPr>
      </p:cxnSp>
      <p:sp>
        <p:nvSpPr>
          <p:cNvPr id="4" name="TextBox 3"/>
          <p:cNvSpPr txBox="1"/>
          <p:nvPr/>
        </p:nvSpPr>
        <p:spPr>
          <a:xfrm>
            <a:off x="10911535" y="6126480"/>
            <a:ext cx="731520" cy="274320"/>
          </a:xfrm>
          <a:prstGeom prst="rect">
            <a:avLst/>
          </a:prstGeom>
          <a:noFill/>
        </p:spPr>
        <p:txBody>
          <a:bodyPr wrap="square" anchor="ctr" lIns="0" rIns="0" tIns="0" bIns="0">
            <a:spAutoFit/>
          </a:bodyPr>
          <a:lstStyle/>
          <a:p>
            <a:pPr algn="r">
              <a:lnSpc>
                <a:spcPct val="105000"/>
              </a:lnSpc>
            </a:pPr>
            <a:r>
              <a:rPr sz="1600" b="0" i="0">
                <a:solidFill>
                  <a:srgbClr val="6B7684"/>
                </a:solidFill>
                <a:latin typeface="Calibri"/>
              </a:rPr>
              <a:t>7</a:t>
            </a:r>
          </a:p>
        </p:txBody>
      </p:sp>
      <p:sp>
        <p:nvSpPr>
          <p:cNvPr id="5" name="Rounded Rectangle 4"/>
          <p:cNvSpPr/>
          <p:nvPr/>
        </p:nvSpPr>
        <p:spPr>
          <a:xfrm>
            <a:off x="548640" y="1554480"/>
            <a:ext cx="3593592" cy="2011680"/>
          </a:xfrm>
          <a:prstGeom prst="roundRect">
            <a:avLst>
              <a:gd name="adj" fmla="val 8000"/>
            </a:avLst>
          </a:prstGeom>
          <a:solidFill>
            <a:srgbClr val="F2F5FA"/>
          </a:solidFill>
          <a:ln>
            <a:noFill/>
          </a:ln>
          <a:effectLst/>
        </p:spPr>
        <p:txBody>
          <a:bodyPr rtlCol="0" anchor="ctr"/>
          <a:lstStyle/>
          <a:p>
            <a:pPr algn="ctr"/>
          </a:p>
        </p:txBody>
      </p:sp>
      <p:sp>
        <p:nvSpPr>
          <p:cNvPr id="6" name="Rectangle 5"/>
          <p:cNvSpPr/>
          <p:nvPr/>
        </p:nvSpPr>
        <p:spPr>
          <a:xfrm>
            <a:off x="548640" y="1783080"/>
            <a:ext cx="64008" cy="1554480"/>
          </a:xfrm>
          <a:prstGeom prst="rect">
            <a:avLst/>
          </a:prstGeom>
          <a:solidFill>
            <a:srgbClr val="4C8BF5"/>
          </a:solidFill>
          <a:ln>
            <a:noFill/>
          </a:ln>
          <a:effectLst/>
        </p:spPr>
        <p:txBody>
          <a:bodyPr rtlCol="0" anchor="ctr"/>
          <a:lstStyle/>
          <a:p>
            <a:pPr algn="ctr"/>
          </a:p>
        </p:txBody>
      </p:sp>
      <p:sp>
        <p:nvSpPr>
          <p:cNvPr id="7" name="TextBox 6"/>
          <p:cNvSpPr txBox="1"/>
          <p:nvPr/>
        </p:nvSpPr>
        <p:spPr>
          <a:xfrm>
            <a:off x="822959" y="1664207"/>
            <a:ext cx="3182112" cy="457200"/>
          </a:xfrm>
          <a:prstGeom prst="rect">
            <a:avLst/>
          </a:prstGeom>
          <a:noFill/>
        </p:spPr>
        <p:txBody>
          <a:bodyPr wrap="square" anchor="t" lIns="0" rIns="0" tIns="0" bIns="0">
            <a:spAutoFit/>
          </a:bodyPr>
          <a:lstStyle/>
          <a:p>
            <a:pPr algn="l">
              <a:lnSpc>
                <a:spcPct val="105000"/>
              </a:lnSpc>
            </a:pPr>
            <a:r>
              <a:rPr sz="2000" b="1" i="0">
                <a:solidFill>
                  <a:srgbClr val="4C8BF5"/>
                </a:solidFill>
                <a:latin typeface="Calibri"/>
              </a:rPr>
              <a:t>SemEval-2010 Task 8</a:t>
            </a:r>
          </a:p>
        </p:txBody>
      </p:sp>
      <p:sp>
        <p:nvSpPr>
          <p:cNvPr id="8" name="TextBox 7"/>
          <p:cNvSpPr txBox="1"/>
          <p:nvPr/>
        </p:nvSpPr>
        <p:spPr>
          <a:xfrm>
            <a:off x="822959" y="2103120"/>
            <a:ext cx="3182112" cy="777240"/>
          </a:xfrm>
          <a:prstGeom prst="rect">
            <a:avLst/>
          </a:prstGeom>
          <a:noFill/>
        </p:spPr>
        <p:txBody>
          <a:bodyPr wrap="square" anchor="ctr" lIns="0" rIns="0" tIns="0" bIns="0">
            <a:spAutoFit/>
          </a:bodyPr>
          <a:lstStyle/>
          <a:p>
            <a:pPr algn="l">
              <a:lnSpc>
                <a:spcPct val="105000"/>
              </a:lnSpc>
            </a:pPr>
            <a:r>
              <a:rPr sz="5600" b="1" i="0">
                <a:solidFill>
                  <a:srgbClr val="E8B931"/>
                </a:solidFill>
                <a:latin typeface="Calibri"/>
              </a:rPr>
              <a:t>8,851</a:t>
            </a:r>
          </a:p>
        </p:txBody>
      </p:sp>
      <p:sp>
        <p:nvSpPr>
          <p:cNvPr id="9" name="TextBox 8"/>
          <p:cNvSpPr txBox="1"/>
          <p:nvPr/>
        </p:nvSpPr>
        <p:spPr>
          <a:xfrm>
            <a:off x="822959" y="2880360"/>
            <a:ext cx="3182112" cy="640080"/>
          </a:xfrm>
          <a:prstGeom prst="rect">
            <a:avLst/>
          </a:prstGeom>
          <a:noFill/>
        </p:spPr>
        <p:txBody>
          <a:bodyPr wrap="square" anchor="t" lIns="0" rIns="0" tIns="0" bIns="0">
            <a:spAutoFit/>
          </a:bodyPr>
          <a:lstStyle/>
          <a:p>
            <a:pPr algn="l">
              <a:lnSpc>
                <a:spcPct val="105000"/>
              </a:lnSpc>
            </a:pPr>
            <a:r>
              <a:rPr sz="1600" b="0" i="0">
                <a:solidFill>
                  <a:srgbClr val="6B7684"/>
                </a:solidFill>
                <a:latin typeface="Calibri"/>
              </a:rPr>
              <a:t>sentences · 17 directed relations · “Other” removed</a:t>
            </a:r>
          </a:p>
        </p:txBody>
      </p:sp>
      <p:sp>
        <p:nvSpPr>
          <p:cNvPr id="10" name="Rounded Rectangle 9"/>
          <p:cNvSpPr/>
          <p:nvPr/>
        </p:nvSpPr>
        <p:spPr>
          <a:xfrm>
            <a:off x="4297680" y="1554480"/>
            <a:ext cx="3593592" cy="2011680"/>
          </a:xfrm>
          <a:prstGeom prst="roundRect">
            <a:avLst>
              <a:gd name="adj" fmla="val 8000"/>
            </a:avLst>
          </a:prstGeom>
          <a:solidFill>
            <a:srgbClr val="F2F5FA"/>
          </a:solidFill>
          <a:ln>
            <a:noFill/>
          </a:ln>
          <a:effectLst/>
        </p:spPr>
        <p:txBody>
          <a:bodyPr rtlCol="0" anchor="ctr"/>
          <a:lstStyle/>
          <a:p>
            <a:pPr algn="ctr"/>
          </a:p>
        </p:txBody>
      </p:sp>
      <p:sp>
        <p:nvSpPr>
          <p:cNvPr id="11" name="Rectangle 10"/>
          <p:cNvSpPr/>
          <p:nvPr/>
        </p:nvSpPr>
        <p:spPr>
          <a:xfrm>
            <a:off x="4297680" y="1783080"/>
            <a:ext cx="64008" cy="1554480"/>
          </a:xfrm>
          <a:prstGeom prst="rect">
            <a:avLst/>
          </a:prstGeom>
          <a:solidFill>
            <a:srgbClr val="4C8BF5"/>
          </a:solidFill>
          <a:ln>
            <a:noFill/>
          </a:ln>
          <a:effectLst/>
        </p:spPr>
        <p:txBody>
          <a:bodyPr rtlCol="0" anchor="ctr"/>
          <a:lstStyle/>
          <a:p>
            <a:pPr algn="ctr"/>
          </a:p>
        </p:txBody>
      </p:sp>
      <p:sp>
        <p:nvSpPr>
          <p:cNvPr id="12" name="TextBox 11"/>
          <p:cNvSpPr txBox="1"/>
          <p:nvPr/>
        </p:nvSpPr>
        <p:spPr>
          <a:xfrm>
            <a:off x="4572000" y="1664207"/>
            <a:ext cx="3182112" cy="457200"/>
          </a:xfrm>
          <a:prstGeom prst="rect">
            <a:avLst/>
          </a:prstGeom>
          <a:noFill/>
        </p:spPr>
        <p:txBody>
          <a:bodyPr wrap="square" anchor="t" lIns="0" rIns="0" tIns="0" bIns="0">
            <a:spAutoFit/>
          </a:bodyPr>
          <a:lstStyle/>
          <a:p>
            <a:pPr algn="l">
              <a:lnSpc>
                <a:spcPct val="105000"/>
              </a:lnSpc>
            </a:pPr>
            <a:r>
              <a:rPr sz="2000" b="1" i="0">
                <a:solidFill>
                  <a:srgbClr val="4C8BF5"/>
                </a:solidFill>
                <a:latin typeface="Calibri"/>
              </a:rPr>
              <a:t>NYT</a:t>
            </a:r>
          </a:p>
        </p:txBody>
      </p:sp>
      <p:sp>
        <p:nvSpPr>
          <p:cNvPr id="13" name="FILL_PLACEHOLDER"/>
          <p:cNvSpPr/>
          <p:nvPr/>
        </p:nvSpPr>
        <p:spPr>
          <a:xfrm>
            <a:off x="4572000" y="2194560"/>
            <a:ext cx="1600200" cy="457200"/>
          </a:xfrm>
          <a:prstGeom prst="roundRect">
            <a:avLst>
              <a:gd name="adj" fmla="val 8000"/>
            </a:avLst>
          </a:prstGeom>
          <a:solidFill>
            <a:srgbClr val="FBEFC4"/>
          </a:solidFill>
          <a:ln w="19050">
            <a:solidFill>
              <a:srgbClr val="E8B931"/>
            </a:solidFill>
          </a:ln>
          <a:effectLst/>
        </p:spPr>
        <p:txBody>
          <a:bodyPr rtlCol="0" anchor="ctr" lIns="109728" rIns="109728" tIns="36576" bIns="36576" wrap="square"/>
          <a:lstStyle/>
          <a:p>
            <a:pPr algn="ctr"/>
            <a:r>
              <a:rPr sz="2000" b="1">
                <a:solidFill>
                  <a:srgbClr val="1B2430"/>
                </a:solidFill>
                <a:latin typeface="Calibri"/>
              </a:rPr>
              <a:t>[FILL: N]</a:t>
            </a:r>
          </a:p>
        </p:txBody>
      </p:sp>
      <p:sp>
        <p:nvSpPr>
          <p:cNvPr id="14" name="TextBox 13"/>
          <p:cNvSpPr txBox="1"/>
          <p:nvPr/>
        </p:nvSpPr>
        <p:spPr>
          <a:xfrm>
            <a:off x="6217920" y="2194560"/>
            <a:ext cx="1581912" cy="457200"/>
          </a:xfrm>
          <a:prstGeom prst="rect">
            <a:avLst/>
          </a:prstGeom>
          <a:noFill/>
        </p:spPr>
        <p:txBody>
          <a:bodyPr wrap="square" anchor="ctr" lIns="0" rIns="0" tIns="0" bIns="0">
            <a:spAutoFit/>
          </a:bodyPr>
          <a:lstStyle/>
          <a:p>
            <a:pPr algn="l">
              <a:lnSpc>
                <a:spcPct val="105000"/>
              </a:lnSpc>
            </a:pPr>
            <a:r>
              <a:rPr sz="2000" b="0" i="0">
                <a:solidFill>
                  <a:srgbClr val="1B2430"/>
                </a:solidFill>
                <a:latin typeface="Calibri"/>
              </a:rPr>
              <a:t>sentences</a:t>
            </a:r>
          </a:p>
        </p:txBody>
      </p:sp>
      <p:sp>
        <p:nvSpPr>
          <p:cNvPr id="15" name="FILL_PLACEHOLDER"/>
          <p:cNvSpPr/>
          <p:nvPr/>
        </p:nvSpPr>
        <p:spPr>
          <a:xfrm>
            <a:off x="4572000" y="2788920"/>
            <a:ext cx="1600200" cy="457200"/>
          </a:xfrm>
          <a:prstGeom prst="roundRect">
            <a:avLst>
              <a:gd name="adj" fmla="val 8000"/>
            </a:avLst>
          </a:prstGeom>
          <a:solidFill>
            <a:srgbClr val="FBEFC4"/>
          </a:solidFill>
          <a:ln w="19050">
            <a:solidFill>
              <a:srgbClr val="E8B931"/>
            </a:solidFill>
          </a:ln>
          <a:effectLst/>
        </p:spPr>
        <p:txBody>
          <a:bodyPr rtlCol="0" anchor="ctr" lIns="109728" rIns="109728" tIns="36576" bIns="36576" wrap="square"/>
          <a:lstStyle/>
          <a:p>
            <a:pPr algn="ctr"/>
            <a:r>
              <a:rPr sz="2000" b="1">
                <a:solidFill>
                  <a:srgbClr val="1B2430"/>
                </a:solidFill>
                <a:latin typeface="Calibri"/>
              </a:rPr>
              <a:t>[FILL: K]</a:t>
            </a:r>
          </a:p>
        </p:txBody>
      </p:sp>
      <p:sp>
        <p:nvSpPr>
          <p:cNvPr id="16" name="TextBox 15"/>
          <p:cNvSpPr txBox="1"/>
          <p:nvPr/>
        </p:nvSpPr>
        <p:spPr>
          <a:xfrm>
            <a:off x="6217920" y="2788920"/>
            <a:ext cx="1581912" cy="457200"/>
          </a:xfrm>
          <a:prstGeom prst="rect">
            <a:avLst/>
          </a:prstGeom>
          <a:noFill/>
        </p:spPr>
        <p:txBody>
          <a:bodyPr wrap="square" anchor="ctr" lIns="0" rIns="0" tIns="0" bIns="0">
            <a:spAutoFit/>
          </a:bodyPr>
          <a:lstStyle/>
          <a:p>
            <a:pPr algn="l">
              <a:lnSpc>
                <a:spcPct val="105000"/>
              </a:lnSpc>
            </a:pPr>
            <a:r>
              <a:rPr sz="2000" b="0" i="0">
                <a:solidFill>
                  <a:srgbClr val="1B2430"/>
                </a:solidFill>
                <a:latin typeface="Calibri"/>
              </a:rPr>
              <a:t>relations</a:t>
            </a:r>
          </a:p>
        </p:txBody>
      </p:sp>
      <p:sp>
        <p:nvSpPr>
          <p:cNvPr id="17" name="Rounded Rectangle 16"/>
          <p:cNvSpPr/>
          <p:nvPr/>
        </p:nvSpPr>
        <p:spPr>
          <a:xfrm>
            <a:off x="8046720" y="1554480"/>
            <a:ext cx="3593592" cy="2011680"/>
          </a:xfrm>
          <a:prstGeom prst="roundRect">
            <a:avLst>
              <a:gd name="adj" fmla="val 8000"/>
            </a:avLst>
          </a:prstGeom>
          <a:solidFill>
            <a:srgbClr val="F2F5FA"/>
          </a:solidFill>
          <a:ln>
            <a:noFill/>
          </a:ln>
          <a:effectLst/>
        </p:spPr>
        <p:txBody>
          <a:bodyPr rtlCol="0" anchor="ctr"/>
          <a:lstStyle/>
          <a:p>
            <a:pPr algn="ctr"/>
          </a:p>
        </p:txBody>
      </p:sp>
      <p:sp>
        <p:nvSpPr>
          <p:cNvPr id="18" name="Rectangle 17"/>
          <p:cNvSpPr/>
          <p:nvPr/>
        </p:nvSpPr>
        <p:spPr>
          <a:xfrm>
            <a:off x="8046720" y="1783080"/>
            <a:ext cx="64008" cy="1554480"/>
          </a:xfrm>
          <a:prstGeom prst="rect">
            <a:avLst/>
          </a:prstGeom>
          <a:solidFill>
            <a:srgbClr val="4C8BF5"/>
          </a:solidFill>
          <a:ln>
            <a:noFill/>
          </a:ln>
          <a:effectLst/>
        </p:spPr>
        <p:txBody>
          <a:bodyPr rtlCol="0" anchor="ctr"/>
          <a:lstStyle/>
          <a:p>
            <a:pPr algn="ctr"/>
          </a:p>
        </p:txBody>
      </p:sp>
      <p:sp>
        <p:nvSpPr>
          <p:cNvPr id="19" name="TextBox 18"/>
          <p:cNvSpPr txBox="1"/>
          <p:nvPr/>
        </p:nvSpPr>
        <p:spPr>
          <a:xfrm>
            <a:off x="8321040" y="1664207"/>
            <a:ext cx="3182112" cy="457200"/>
          </a:xfrm>
          <a:prstGeom prst="rect">
            <a:avLst/>
          </a:prstGeom>
          <a:noFill/>
        </p:spPr>
        <p:txBody>
          <a:bodyPr wrap="square" anchor="t" lIns="0" rIns="0" tIns="0" bIns="0">
            <a:spAutoFit/>
          </a:bodyPr>
          <a:lstStyle/>
          <a:p>
            <a:pPr algn="l">
              <a:lnSpc>
                <a:spcPct val="105000"/>
              </a:lnSpc>
            </a:pPr>
            <a:r>
              <a:rPr sz="2000" b="1" i="0">
                <a:solidFill>
                  <a:srgbClr val="4C8BF5"/>
                </a:solidFill>
                <a:latin typeface="Calibri"/>
              </a:rPr>
              <a:t>arXiv — my own dataset</a:t>
            </a:r>
          </a:p>
        </p:txBody>
      </p:sp>
      <p:sp>
        <p:nvSpPr>
          <p:cNvPr id="20" name="TextBox 19"/>
          <p:cNvSpPr txBox="1"/>
          <p:nvPr/>
        </p:nvSpPr>
        <p:spPr>
          <a:xfrm>
            <a:off x="8321040" y="2240280"/>
            <a:ext cx="3182112" cy="1097280"/>
          </a:xfrm>
          <a:prstGeom prst="rect">
            <a:avLst/>
          </a:prstGeom>
          <a:noFill/>
        </p:spPr>
        <p:txBody>
          <a:bodyPr wrap="square" anchor="t" lIns="0" rIns="0" tIns="0" bIns="0">
            <a:spAutoFit/>
          </a:bodyPr>
          <a:lstStyle/>
          <a:p>
            <a:pPr algn="l">
              <a:lnSpc>
                <a:spcPct val="105000"/>
              </a:lnSpc>
            </a:pPr>
            <a:r>
              <a:rPr sz="2200" b="0" i="0">
                <a:solidFill>
                  <a:srgbClr val="1B2430"/>
                </a:solidFill>
                <a:latin typeface="Calibri"/>
              </a:rPr>
              <a:t>See next slide</a:t>
            </a:r>
          </a:p>
        </p:txBody>
      </p:sp>
      <p:sp>
        <p:nvSpPr>
          <p:cNvPr id="21" name="TextBox 20"/>
          <p:cNvSpPr txBox="1"/>
          <p:nvPr/>
        </p:nvSpPr>
        <p:spPr>
          <a:xfrm>
            <a:off x="548640" y="3749039"/>
            <a:ext cx="11094415" cy="548640"/>
          </a:xfrm>
          <a:prstGeom prst="rect">
            <a:avLst/>
          </a:prstGeom>
          <a:noFill/>
        </p:spPr>
        <p:txBody>
          <a:bodyPr wrap="square" anchor="ctr" lIns="0" rIns="0" tIns="0" bIns="0">
            <a:spAutoFit/>
          </a:bodyPr>
          <a:lstStyle/>
          <a:p>
            <a:pPr algn="l">
              <a:lnSpc>
                <a:spcPct val="105000"/>
              </a:lnSpc>
            </a:pPr>
            <a:r>
              <a:rPr sz="2000" b="1" i="0">
                <a:solidFill>
                  <a:srgbClr val="6B7684"/>
                </a:solidFill>
                <a:latin typeface="Calibri"/>
              </a:rPr>
              <a:t>SemEval example:  </a:t>
            </a:r>
            <a:r>
              <a:rPr sz="2000" b="0" i="0">
                <a:solidFill>
                  <a:srgbClr val="1B2430"/>
                </a:solidFill>
                <a:latin typeface="Calibri"/>
              </a:rPr>
              <a:t>“financial </a:t>
            </a:r>
            <a:r>
              <a:rPr sz="2000" b="1" i="0">
                <a:solidFill>
                  <a:srgbClr val="4C8BF5"/>
                </a:solidFill>
                <a:latin typeface="Calibri"/>
              </a:rPr>
              <a:t>stress</a:t>
            </a:r>
            <a:r>
              <a:rPr sz="2000" b="0" i="0">
                <a:solidFill>
                  <a:srgbClr val="1B2430"/>
                </a:solidFill>
                <a:latin typeface="Calibri"/>
              </a:rPr>
              <a:t> is one of the main causes of </a:t>
            </a:r>
            <a:r>
              <a:rPr sz="2000" b="1" i="0">
                <a:solidFill>
                  <a:srgbClr val="4C8BF5"/>
                </a:solidFill>
                <a:latin typeface="Calibri"/>
              </a:rPr>
              <a:t>divorce</a:t>
            </a:r>
            <a:r>
              <a:rPr sz="2000" b="0" i="0">
                <a:solidFill>
                  <a:srgbClr val="6B7684"/>
                </a:solidFill>
                <a:latin typeface="Calibri"/>
              </a:rPr>
              <a:t>.”  → cause-effect</a:t>
            </a:r>
          </a:p>
        </p:txBody>
      </p:sp>
      <p:cxnSp>
        <p:nvCxnSpPr>
          <p:cNvPr id="22" name="Connector 21"/>
          <p:cNvCxnSpPr/>
          <p:nvPr/>
        </p:nvCxnSpPr>
        <p:spPr>
          <a:xfrm>
            <a:off x="548640" y="4434840"/>
            <a:ext cx="11094415" cy="0"/>
          </a:xfrm>
          <a:prstGeom prst="line">
            <a:avLst/>
          </a:prstGeom>
          <a:ln w="9525">
            <a:solidFill>
              <a:srgbClr val="C9D1DC"/>
            </a:solidFill>
          </a:ln>
        </p:spPr>
      </p:cxnSp>
      <p:sp>
        <p:nvSpPr>
          <p:cNvPr id="23" name="TextBox 22"/>
          <p:cNvSpPr txBox="1"/>
          <p:nvPr/>
        </p:nvSpPr>
        <p:spPr>
          <a:xfrm>
            <a:off x="548640" y="4572000"/>
            <a:ext cx="3593592" cy="777240"/>
          </a:xfrm>
          <a:prstGeom prst="rect">
            <a:avLst/>
          </a:prstGeom>
          <a:noFill/>
        </p:spPr>
        <p:txBody>
          <a:bodyPr wrap="square" anchor="ctr" lIns="0" rIns="0" tIns="0" bIns="0">
            <a:spAutoFit/>
          </a:bodyPr>
          <a:lstStyle/>
          <a:p>
            <a:pPr algn="l">
              <a:lnSpc>
                <a:spcPct val="105000"/>
              </a:lnSpc>
            </a:pPr>
            <a:r>
              <a:rPr sz="4800" b="1" i="0">
                <a:solidFill>
                  <a:srgbClr val="E8B931"/>
                </a:solidFill>
                <a:latin typeface="Calibri"/>
              </a:rPr>
              <a:t>19 → 31</a:t>
            </a:r>
          </a:p>
        </p:txBody>
      </p:sp>
      <p:sp>
        <p:nvSpPr>
          <p:cNvPr id="24" name="TextBox 23"/>
          <p:cNvSpPr txBox="1"/>
          <p:nvPr/>
        </p:nvSpPr>
        <p:spPr>
          <a:xfrm>
            <a:off x="548640" y="5349240"/>
            <a:ext cx="3593592" cy="457200"/>
          </a:xfrm>
          <a:prstGeom prst="rect">
            <a:avLst/>
          </a:prstGeom>
          <a:noFill/>
        </p:spPr>
        <p:txBody>
          <a:bodyPr wrap="square" anchor="t" lIns="0" rIns="0" tIns="0" bIns="0">
            <a:spAutoFit/>
          </a:bodyPr>
          <a:lstStyle/>
          <a:p>
            <a:pPr algn="l">
              <a:lnSpc>
                <a:spcPct val="105000"/>
              </a:lnSpc>
            </a:pPr>
            <a:r>
              <a:rPr sz="1600" b="0" i="0">
                <a:solidFill>
                  <a:srgbClr val="6B7684"/>
                </a:solidFill>
                <a:latin typeface="Calibri"/>
              </a:rPr>
              <a:t>SemEval F1, with feedback</a:t>
            </a:r>
          </a:p>
        </p:txBody>
      </p:sp>
      <p:sp>
        <p:nvSpPr>
          <p:cNvPr id="25" name="TextBox 24"/>
          <p:cNvSpPr txBox="1"/>
          <p:nvPr/>
        </p:nvSpPr>
        <p:spPr>
          <a:xfrm>
            <a:off x="4297680" y="4572000"/>
            <a:ext cx="3593592" cy="777240"/>
          </a:xfrm>
          <a:prstGeom prst="rect">
            <a:avLst/>
          </a:prstGeom>
          <a:noFill/>
        </p:spPr>
        <p:txBody>
          <a:bodyPr wrap="square" anchor="ctr" lIns="0" rIns="0" tIns="0" bIns="0">
            <a:spAutoFit/>
          </a:bodyPr>
          <a:lstStyle/>
          <a:p>
            <a:pPr algn="l">
              <a:lnSpc>
                <a:spcPct val="105000"/>
              </a:lnSpc>
            </a:pPr>
            <a:r>
              <a:rPr sz="4800" b="1" i="0">
                <a:solidFill>
                  <a:srgbClr val="E8B931"/>
                </a:solidFill>
                <a:latin typeface="Calibri"/>
              </a:rPr>
              <a:t>≈ 47</a:t>
            </a:r>
          </a:p>
        </p:txBody>
      </p:sp>
      <p:sp>
        <p:nvSpPr>
          <p:cNvPr id="26" name="TextBox 25"/>
          <p:cNvSpPr txBox="1"/>
          <p:nvPr/>
        </p:nvSpPr>
        <p:spPr>
          <a:xfrm>
            <a:off x="4297680" y="5349240"/>
            <a:ext cx="3593592" cy="457200"/>
          </a:xfrm>
          <a:prstGeom prst="rect">
            <a:avLst/>
          </a:prstGeom>
          <a:noFill/>
        </p:spPr>
        <p:txBody>
          <a:bodyPr wrap="square" anchor="t" lIns="0" rIns="0" tIns="0" bIns="0">
            <a:spAutoFit/>
          </a:bodyPr>
          <a:lstStyle/>
          <a:p>
            <a:pPr algn="l">
              <a:lnSpc>
                <a:spcPct val="105000"/>
              </a:lnSpc>
            </a:pPr>
            <a:r>
              <a:rPr sz="1600" b="0" i="0">
                <a:solidFill>
                  <a:srgbClr val="6B7684"/>
                </a:solidFill>
                <a:latin typeface="Calibri"/>
              </a:rPr>
              <a:t>NYT F1</a:t>
            </a:r>
          </a:p>
        </p:txBody>
      </p:sp>
      <p:sp>
        <p:nvSpPr>
          <p:cNvPr id="27" name="TextBox 26"/>
          <p:cNvSpPr txBox="1"/>
          <p:nvPr/>
        </p:nvSpPr>
        <p:spPr>
          <a:xfrm>
            <a:off x="8046720" y="4572000"/>
            <a:ext cx="3593592" cy="777240"/>
          </a:xfrm>
          <a:prstGeom prst="rect">
            <a:avLst/>
          </a:prstGeom>
          <a:noFill/>
        </p:spPr>
        <p:txBody>
          <a:bodyPr wrap="square" anchor="ctr" lIns="0" rIns="0" tIns="0" bIns="0">
            <a:spAutoFit/>
          </a:bodyPr>
          <a:lstStyle/>
          <a:p>
            <a:pPr algn="l">
              <a:lnSpc>
                <a:spcPct val="105000"/>
              </a:lnSpc>
            </a:pPr>
            <a:r>
              <a:rPr sz="4800" b="1" i="0">
                <a:solidFill>
                  <a:srgbClr val="E8B931"/>
                </a:solidFill>
                <a:latin typeface="Calibri"/>
              </a:rPr>
              <a:t>Qwen2.5</a:t>
            </a:r>
          </a:p>
        </p:txBody>
      </p:sp>
      <p:sp>
        <p:nvSpPr>
          <p:cNvPr id="28" name="TextBox 27"/>
          <p:cNvSpPr txBox="1"/>
          <p:nvPr/>
        </p:nvSpPr>
        <p:spPr>
          <a:xfrm>
            <a:off x="8046720" y="5349240"/>
            <a:ext cx="3593592" cy="457200"/>
          </a:xfrm>
          <a:prstGeom prst="rect">
            <a:avLst/>
          </a:prstGeom>
          <a:noFill/>
        </p:spPr>
        <p:txBody>
          <a:bodyPr wrap="square" anchor="t" lIns="0" rIns="0" tIns="0" bIns="0">
            <a:spAutoFit/>
          </a:bodyPr>
          <a:lstStyle/>
          <a:p>
            <a:pPr algn="l">
              <a:lnSpc>
                <a:spcPct val="105000"/>
              </a:lnSpc>
            </a:pPr>
            <a:r>
              <a:rPr sz="1600" b="0" i="0">
                <a:solidFill>
                  <a:srgbClr val="6B7684"/>
                </a:solidFill>
                <a:latin typeface="Calibri"/>
              </a:rPr>
              <a:t>local model replaces GPT-4o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640080"/>
          </a:xfrm>
          <a:prstGeom prst="rect">
            <a:avLst/>
          </a:prstGeom>
          <a:noFill/>
        </p:spPr>
        <p:txBody>
          <a:bodyPr wrap="square" anchor="ctr" lIns="0" rIns="0" tIns="0" bIns="0">
            <a:spAutoFit/>
          </a:bodyPr>
          <a:lstStyle/>
          <a:p>
            <a:pPr algn="l">
              <a:lnSpc>
                <a:spcPct val="105000"/>
              </a:lnSpc>
            </a:pPr>
            <a:r>
              <a:rPr sz="3400" b="1" i="0">
                <a:solidFill>
                  <a:srgbClr val="1B2430"/>
                </a:solidFill>
                <a:latin typeface="Calibri"/>
              </a:rPr>
              <a:t>Own dataset: arXiv scientific literature</a:t>
            </a:r>
          </a:p>
        </p:txBody>
      </p:sp>
      <p:cxnSp>
        <p:nvCxnSpPr>
          <p:cNvPr id="3" name="Connector 2"/>
          <p:cNvCxnSpPr/>
          <p:nvPr/>
        </p:nvCxnSpPr>
        <p:spPr>
          <a:xfrm>
            <a:off x="548640" y="1234440"/>
            <a:ext cx="11094415" cy="0"/>
          </a:xfrm>
          <a:prstGeom prst="line">
            <a:avLst/>
          </a:prstGeom>
          <a:ln w="12700">
            <a:solidFill>
              <a:srgbClr val="4C8BF5"/>
            </a:solidFill>
          </a:ln>
        </p:spPr>
      </p:cxnSp>
      <p:sp>
        <p:nvSpPr>
          <p:cNvPr id="4" name="TextBox 3"/>
          <p:cNvSpPr txBox="1"/>
          <p:nvPr/>
        </p:nvSpPr>
        <p:spPr>
          <a:xfrm>
            <a:off x="10911535" y="6126480"/>
            <a:ext cx="731520" cy="274320"/>
          </a:xfrm>
          <a:prstGeom prst="rect">
            <a:avLst/>
          </a:prstGeom>
          <a:noFill/>
        </p:spPr>
        <p:txBody>
          <a:bodyPr wrap="square" anchor="ctr" lIns="0" rIns="0" tIns="0" bIns="0">
            <a:spAutoFit/>
          </a:bodyPr>
          <a:lstStyle/>
          <a:p>
            <a:pPr algn="r">
              <a:lnSpc>
                <a:spcPct val="105000"/>
              </a:lnSpc>
            </a:pPr>
            <a:r>
              <a:rPr sz="1600" b="0" i="0">
                <a:solidFill>
                  <a:srgbClr val="6B7684"/>
                </a:solidFill>
                <a:latin typeface="Calibri"/>
              </a:rPr>
              <a:t>8</a:t>
            </a:r>
          </a:p>
        </p:txBody>
      </p:sp>
      <p:sp>
        <p:nvSpPr>
          <p:cNvPr id="5" name="Rounded Rectangle 4"/>
          <p:cNvSpPr/>
          <p:nvPr/>
        </p:nvSpPr>
        <p:spPr>
          <a:xfrm>
            <a:off x="548640" y="1554480"/>
            <a:ext cx="2651760" cy="1691640"/>
          </a:xfrm>
          <a:prstGeom prst="roundRect">
            <a:avLst>
              <a:gd name="adj" fmla="val 8000"/>
            </a:avLst>
          </a:prstGeom>
          <a:solidFill>
            <a:srgbClr val="F2F5FA"/>
          </a:solidFill>
          <a:ln>
            <a:noFill/>
          </a:ln>
          <a:effectLst/>
        </p:spPr>
        <p:txBody>
          <a:bodyPr rtlCol="0" anchor="ctr"/>
          <a:lstStyle/>
          <a:p>
            <a:pPr algn="ctr"/>
          </a:p>
        </p:txBody>
      </p:sp>
      <p:sp>
        <p:nvSpPr>
          <p:cNvPr id="6" name="Rectangle 5"/>
          <p:cNvSpPr/>
          <p:nvPr/>
        </p:nvSpPr>
        <p:spPr>
          <a:xfrm>
            <a:off x="548640" y="1783080"/>
            <a:ext cx="64008" cy="1234440"/>
          </a:xfrm>
          <a:prstGeom prst="rect">
            <a:avLst/>
          </a:prstGeom>
          <a:solidFill>
            <a:srgbClr val="4C8BF5"/>
          </a:solidFill>
          <a:ln>
            <a:noFill/>
          </a:ln>
          <a:effectLst/>
        </p:spPr>
        <p:txBody>
          <a:bodyPr rtlCol="0" anchor="ctr"/>
          <a:lstStyle/>
          <a:p>
            <a:pPr algn="ctr"/>
          </a:p>
        </p:txBody>
      </p:sp>
      <p:sp>
        <p:nvSpPr>
          <p:cNvPr id="7" name="TextBox 6"/>
          <p:cNvSpPr txBox="1"/>
          <p:nvPr/>
        </p:nvSpPr>
        <p:spPr>
          <a:xfrm>
            <a:off x="822959" y="1691639"/>
            <a:ext cx="2240279" cy="930402"/>
          </a:xfrm>
          <a:prstGeom prst="rect">
            <a:avLst/>
          </a:prstGeom>
          <a:noFill/>
        </p:spPr>
        <p:txBody>
          <a:bodyPr wrap="square" anchor="ctr" lIns="0" rIns="0" tIns="0" bIns="0">
            <a:spAutoFit/>
          </a:bodyPr>
          <a:lstStyle/>
          <a:p>
            <a:pPr algn="l">
              <a:lnSpc>
                <a:spcPct val="105000"/>
              </a:lnSpc>
            </a:pPr>
            <a:r>
              <a:rPr sz="5600" b="1" i="0">
                <a:solidFill>
                  <a:srgbClr val="E8B931"/>
                </a:solidFill>
                <a:latin typeface="Calibri"/>
              </a:rPr>
              <a:t>397</a:t>
            </a:r>
          </a:p>
        </p:txBody>
      </p:sp>
      <p:sp>
        <p:nvSpPr>
          <p:cNvPr id="8" name="TextBox 7"/>
          <p:cNvSpPr txBox="1"/>
          <p:nvPr/>
        </p:nvSpPr>
        <p:spPr>
          <a:xfrm>
            <a:off x="822959" y="2535631"/>
            <a:ext cx="2240279" cy="608990"/>
          </a:xfrm>
          <a:prstGeom prst="rect">
            <a:avLst/>
          </a:prstGeom>
          <a:noFill/>
        </p:spPr>
        <p:txBody>
          <a:bodyPr wrap="square" anchor="t" lIns="0" rIns="0" tIns="0" bIns="0">
            <a:spAutoFit/>
          </a:bodyPr>
          <a:lstStyle/>
          <a:p>
            <a:pPr algn="l">
              <a:lnSpc>
                <a:spcPct val="105000"/>
              </a:lnSpc>
            </a:pPr>
            <a:r>
              <a:rPr sz="1600" b="0" i="0">
                <a:solidFill>
                  <a:srgbClr val="6B7684"/>
                </a:solidFill>
                <a:latin typeface="Calibri"/>
              </a:rPr>
              <a:t>abstracts</a:t>
            </a:r>
          </a:p>
        </p:txBody>
      </p:sp>
      <p:sp>
        <p:nvSpPr>
          <p:cNvPr id="9" name="Rounded Rectangle 8"/>
          <p:cNvSpPr/>
          <p:nvPr/>
        </p:nvSpPr>
        <p:spPr>
          <a:xfrm>
            <a:off x="3362248" y="1554480"/>
            <a:ext cx="2651760" cy="1691640"/>
          </a:xfrm>
          <a:prstGeom prst="roundRect">
            <a:avLst>
              <a:gd name="adj" fmla="val 8000"/>
            </a:avLst>
          </a:prstGeom>
          <a:solidFill>
            <a:srgbClr val="F2F5FA"/>
          </a:solidFill>
          <a:ln>
            <a:noFill/>
          </a:ln>
          <a:effectLst/>
        </p:spPr>
        <p:txBody>
          <a:bodyPr rtlCol="0" anchor="ctr"/>
          <a:lstStyle/>
          <a:p>
            <a:pPr algn="ctr"/>
          </a:p>
        </p:txBody>
      </p:sp>
      <p:sp>
        <p:nvSpPr>
          <p:cNvPr id="10" name="Rectangle 9"/>
          <p:cNvSpPr/>
          <p:nvPr/>
        </p:nvSpPr>
        <p:spPr>
          <a:xfrm>
            <a:off x="3362248" y="1783080"/>
            <a:ext cx="64008" cy="1234440"/>
          </a:xfrm>
          <a:prstGeom prst="rect">
            <a:avLst/>
          </a:prstGeom>
          <a:solidFill>
            <a:srgbClr val="4C8BF5"/>
          </a:solidFill>
          <a:ln>
            <a:noFill/>
          </a:ln>
          <a:effectLst/>
        </p:spPr>
        <p:txBody>
          <a:bodyPr rtlCol="0" anchor="ctr"/>
          <a:lstStyle/>
          <a:p>
            <a:pPr algn="ctr"/>
          </a:p>
        </p:txBody>
      </p:sp>
      <p:sp>
        <p:nvSpPr>
          <p:cNvPr id="11" name="TextBox 10"/>
          <p:cNvSpPr txBox="1"/>
          <p:nvPr/>
        </p:nvSpPr>
        <p:spPr>
          <a:xfrm>
            <a:off x="3636568" y="1691639"/>
            <a:ext cx="2240279" cy="930402"/>
          </a:xfrm>
          <a:prstGeom prst="rect">
            <a:avLst/>
          </a:prstGeom>
          <a:noFill/>
        </p:spPr>
        <p:txBody>
          <a:bodyPr wrap="square" anchor="ctr" lIns="0" rIns="0" tIns="0" bIns="0">
            <a:spAutoFit/>
          </a:bodyPr>
          <a:lstStyle/>
          <a:p>
            <a:pPr algn="l">
              <a:lnSpc>
                <a:spcPct val="105000"/>
              </a:lnSpc>
            </a:pPr>
            <a:r>
              <a:rPr sz="5600" b="1" i="0">
                <a:solidFill>
                  <a:srgbClr val="E8B931"/>
                </a:solidFill>
                <a:latin typeface="Calibri"/>
              </a:rPr>
              <a:t>2,846</a:t>
            </a:r>
          </a:p>
        </p:txBody>
      </p:sp>
      <p:sp>
        <p:nvSpPr>
          <p:cNvPr id="12" name="TextBox 11"/>
          <p:cNvSpPr txBox="1"/>
          <p:nvPr/>
        </p:nvSpPr>
        <p:spPr>
          <a:xfrm>
            <a:off x="3636568" y="2535631"/>
            <a:ext cx="2240279" cy="608990"/>
          </a:xfrm>
          <a:prstGeom prst="rect">
            <a:avLst/>
          </a:prstGeom>
          <a:noFill/>
        </p:spPr>
        <p:txBody>
          <a:bodyPr wrap="square" anchor="t" lIns="0" rIns="0" tIns="0" bIns="0">
            <a:spAutoFit/>
          </a:bodyPr>
          <a:lstStyle/>
          <a:p>
            <a:pPr algn="l">
              <a:lnSpc>
                <a:spcPct val="105000"/>
              </a:lnSpc>
            </a:pPr>
            <a:r>
              <a:rPr sz="1600" b="0" i="0">
                <a:solidFill>
                  <a:srgbClr val="6B7684"/>
                </a:solidFill>
                <a:latin typeface="Calibri"/>
              </a:rPr>
              <a:t>sentences</a:t>
            </a:r>
          </a:p>
        </p:txBody>
      </p:sp>
      <p:sp>
        <p:nvSpPr>
          <p:cNvPr id="13" name="Rounded Rectangle 12"/>
          <p:cNvSpPr/>
          <p:nvPr/>
        </p:nvSpPr>
        <p:spPr>
          <a:xfrm>
            <a:off x="6175857" y="1554480"/>
            <a:ext cx="2651760" cy="1691640"/>
          </a:xfrm>
          <a:prstGeom prst="roundRect">
            <a:avLst>
              <a:gd name="adj" fmla="val 8000"/>
            </a:avLst>
          </a:prstGeom>
          <a:solidFill>
            <a:srgbClr val="F2F5FA"/>
          </a:solidFill>
          <a:ln>
            <a:noFill/>
          </a:ln>
          <a:effectLst/>
        </p:spPr>
        <p:txBody>
          <a:bodyPr rtlCol="0" anchor="ctr"/>
          <a:lstStyle/>
          <a:p>
            <a:pPr algn="ctr"/>
          </a:p>
        </p:txBody>
      </p:sp>
      <p:sp>
        <p:nvSpPr>
          <p:cNvPr id="14" name="Rectangle 13"/>
          <p:cNvSpPr/>
          <p:nvPr/>
        </p:nvSpPr>
        <p:spPr>
          <a:xfrm>
            <a:off x="6175857" y="1783080"/>
            <a:ext cx="64008" cy="1234440"/>
          </a:xfrm>
          <a:prstGeom prst="rect">
            <a:avLst/>
          </a:prstGeom>
          <a:solidFill>
            <a:srgbClr val="4C8BF5"/>
          </a:solidFill>
          <a:ln>
            <a:noFill/>
          </a:ln>
          <a:effectLst/>
        </p:spPr>
        <p:txBody>
          <a:bodyPr rtlCol="0" anchor="ctr"/>
          <a:lstStyle/>
          <a:p>
            <a:pPr algn="ctr"/>
          </a:p>
        </p:txBody>
      </p:sp>
      <p:sp>
        <p:nvSpPr>
          <p:cNvPr id="15" name="TextBox 14"/>
          <p:cNvSpPr txBox="1"/>
          <p:nvPr/>
        </p:nvSpPr>
        <p:spPr>
          <a:xfrm>
            <a:off x="6450177" y="1691639"/>
            <a:ext cx="2240279" cy="930402"/>
          </a:xfrm>
          <a:prstGeom prst="rect">
            <a:avLst/>
          </a:prstGeom>
          <a:noFill/>
        </p:spPr>
        <p:txBody>
          <a:bodyPr wrap="square" anchor="ctr" lIns="0" rIns="0" tIns="0" bIns="0">
            <a:spAutoFit/>
          </a:bodyPr>
          <a:lstStyle/>
          <a:p>
            <a:pPr algn="l">
              <a:lnSpc>
                <a:spcPct val="105000"/>
              </a:lnSpc>
            </a:pPr>
            <a:r>
              <a:rPr sz="5600" b="1" i="0">
                <a:solidFill>
                  <a:srgbClr val="E8B931"/>
                </a:solidFill>
                <a:latin typeface="Calibri"/>
              </a:rPr>
              <a:t>6</a:t>
            </a:r>
          </a:p>
        </p:txBody>
      </p:sp>
      <p:sp>
        <p:nvSpPr>
          <p:cNvPr id="16" name="TextBox 15"/>
          <p:cNvSpPr txBox="1"/>
          <p:nvPr/>
        </p:nvSpPr>
        <p:spPr>
          <a:xfrm>
            <a:off x="6450177" y="2535631"/>
            <a:ext cx="2240279" cy="608990"/>
          </a:xfrm>
          <a:prstGeom prst="rect">
            <a:avLst/>
          </a:prstGeom>
          <a:noFill/>
        </p:spPr>
        <p:txBody>
          <a:bodyPr wrap="square" anchor="t" lIns="0" rIns="0" tIns="0" bIns="0">
            <a:spAutoFit/>
          </a:bodyPr>
          <a:lstStyle/>
          <a:p>
            <a:pPr algn="l">
              <a:lnSpc>
                <a:spcPct val="105000"/>
              </a:lnSpc>
            </a:pPr>
            <a:r>
              <a:rPr sz="1600" b="0" i="0">
                <a:solidFill>
                  <a:srgbClr val="6B7684"/>
                </a:solidFill>
                <a:latin typeface="Calibri"/>
              </a:rPr>
              <a:t>relations</a:t>
            </a:r>
          </a:p>
        </p:txBody>
      </p:sp>
      <p:sp>
        <p:nvSpPr>
          <p:cNvPr id="17" name="Rounded Rectangle 16"/>
          <p:cNvSpPr/>
          <p:nvPr/>
        </p:nvSpPr>
        <p:spPr>
          <a:xfrm>
            <a:off x="8989466" y="1554480"/>
            <a:ext cx="2651760" cy="1691640"/>
          </a:xfrm>
          <a:prstGeom prst="roundRect">
            <a:avLst>
              <a:gd name="adj" fmla="val 8000"/>
            </a:avLst>
          </a:prstGeom>
          <a:solidFill>
            <a:srgbClr val="F2F5FA"/>
          </a:solidFill>
          <a:ln>
            <a:noFill/>
          </a:ln>
          <a:effectLst/>
        </p:spPr>
        <p:txBody>
          <a:bodyPr rtlCol="0" anchor="ctr"/>
          <a:lstStyle/>
          <a:p>
            <a:pPr algn="ctr"/>
          </a:p>
        </p:txBody>
      </p:sp>
      <p:sp>
        <p:nvSpPr>
          <p:cNvPr id="18" name="Rectangle 17"/>
          <p:cNvSpPr/>
          <p:nvPr/>
        </p:nvSpPr>
        <p:spPr>
          <a:xfrm>
            <a:off x="8989466" y="1783080"/>
            <a:ext cx="64008" cy="1234440"/>
          </a:xfrm>
          <a:prstGeom prst="rect">
            <a:avLst/>
          </a:prstGeom>
          <a:solidFill>
            <a:srgbClr val="4C8BF5"/>
          </a:solidFill>
          <a:ln>
            <a:noFill/>
          </a:ln>
          <a:effectLst/>
        </p:spPr>
        <p:txBody>
          <a:bodyPr rtlCol="0" anchor="ctr"/>
          <a:lstStyle/>
          <a:p>
            <a:pPr algn="ctr"/>
          </a:p>
        </p:txBody>
      </p:sp>
      <p:sp>
        <p:nvSpPr>
          <p:cNvPr id="19" name="TextBox 18"/>
          <p:cNvSpPr txBox="1"/>
          <p:nvPr/>
        </p:nvSpPr>
        <p:spPr>
          <a:xfrm>
            <a:off x="9263786" y="1691639"/>
            <a:ext cx="2240279" cy="930402"/>
          </a:xfrm>
          <a:prstGeom prst="rect">
            <a:avLst/>
          </a:prstGeom>
          <a:noFill/>
        </p:spPr>
        <p:txBody>
          <a:bodyPr wrap="square" anchor="ctr" lIns="0" rIns="0" tIns="0" bIns="0">
            <a:spAutoFit/>
          </a:bodyPr>
          <a:lstStyle/>
          <a:p>
            <a:pPr algn="l">
              <a:lnSpc>
                <a:spcPct val="105000"/>
              </a:lnSpc>
            </a:pPr>
            <a:r>
              <a:rPr sz="5600" b="1" i="0">
                <a:solidFill>
                  <a:srgbClr val="E8B931"/>
                </a:solidFill>
                <a:latin typeface="Calibri"/>
              </a:rPr>
              <a:t>100</a:t>
            </a:r>
          </a:p>
        </p:txBody>
      </p:sp>
      <p:sp>
        <p:nvSpPr>
          <p:cNvPr id="20" name="TextBox 19"/>
          <p:cNvSpPr txBox="1"/>
          <p:nvPr/>
        </p:nvSpPr>
        <p:spPr>
          <a:xfrm>
            <a:off x="9263786" y="2535631"/>
            <a:ext cx="2240279" cy="608990"/>
          </a:xfrm>
          <a:prstGeom prst="rect">
            <a:avLst/>
          </a:prstGeom>
          <a:noFill/>
        </p:spPr>
        <p:txBody>
          <a:bodyPr wrap="square" anchor="t" lIns="0" rIns="0" tIns="0" bIns="0">
            <a:spAutoFit/>
          </a:bodyPr>
          <a:lstStyle/>
          <a:p>
            <a:pPr algn="l">
              <a:lnSpc>
                <a:spcPct val="105000"/>
              </a:lnSpc>
            </a:pPr>
            <a:r>
              <a:rPr sz="1600" b="0" i="0">
                <a:solidFill>
                  <a:srgbClr val="6B7684"/>
                </a:solidFill>
                <a:latin typeface="Calibri"/>
              </a:rPr>
              <a:t>sentence annotation sheet</a:t>
            </a:r>
          </a:p>
        </p:txBody>
      </p:sp>
      <p:sp>
        <p:nvSpPr>
          <p:cNvPr id="21" name="TextBox 20"/>
          <p:cNvSpPr txBox="1"/>
          <p:nvPr/>
        </p:nvSpPr>
        <p:spPr>
          <a:xfrm>
            <a:off x="548640" y="3520440"/>
            <a:ext cx="11094415" cy="365760"/>
          </a:xfrm>
          <a:prstGeom prst="rect">
            <a:avLst/>
          </a:prstGeom>
          <a:noFill/>
        </p:spPr>
        <p:txBody>
          <a:bodyPr wrap="square" anchor="t" lIns="0" rIns="0" tIns="0" bIns="0">
            <a:spAutoFit/>
          </a:bodyPr>
          <a:lstStyle/>
          <a:p>
            <a:pPr algn="l">
              <a:lnSpc>
                <a:spcPct val="105000"/>
              </a:lnSpc>
            </a:pPr>
            <a:r>
              <a:rPr sz="1600" b="1" i="0">
                <a:solidFill>
                  <a:srgbClr val="4C8BF5"/>
                </a:solidFill>
                <a:latin typeface="Calibri"/>
              </a:rPr>
              <a:t>RELATIONS</a:t>
            </a:r>
          </a:p>
        </p:txBody>
      </p:sp>
      <p:sp>
        <p:nvSpPr>
          <p:cNvPr id="22" name="TextBox 21"/>
          <p:cNvSpPr txBox="1"/>
          <p:nvPr/>
        </p:nvSpPr>
        <p:spPr>
          <a:xfrm>
            <a:off x="548640" y="3886200"/>
            <a:ext cx="11094415" cy="457200"/>
          </a:xfrm>
          <a:prstGeom prst="rect">
            <a:avLst/>
          </a:prstGeom>
          <a:noFill/>
        </p:spPr>
        <p:txBody>
          <a:bodyPr wrap="square" anchor="ctr" lIns="0" rIns="0" tIns="0" bIns="0">
            <a:spAutoFit/>
          </a:bodyPr>
          <a:lstStyle/>
          <a:p>
            <a:pPr algn="l">
              <a:lnSpc>
                <a:spcPct val="105000"/>
              </a:lnSpc>
            </a:pPr>
            <a:r>
              <a:rPr sz="2000" b="1" i="0">
                <a:solidFill>
                  <a:srgbClr val="1B2430"/>
                </a:solidFill>
                <a:latin typeface="Calibri"/>
              </a:rPr>
              <a:t>evaluated_on · outperforms · achieves_result · builds_on · applied_to_task · uses_component</a:t>
            </a:r>
          </a:p>
        </p:txBody>
      </p:sp>
      <p:cxnSp>
        <p:nvCxnSpPr>
          <p:cNvPr id="23" name="Connector 22"/>
          <p:cNvCxnSpPr/>
          <p:nvPr/>
        </p:nvCxnSpPr>
        <p:spPr>
          <a:xfrm>
            <a:off x="548640" y="4526280"/>
            <a:ext cx="11094415" cy="0"/>
          </a:xfrm>
          <a:prstGeom prst="line">
            <a:avLst/>
          </a:prstGeom>
          <a:ln w="9525">
            <a:solidFill>
              <a:srgbClr val="C9D1DC"/>
            </a:solidFill>
          </a:ln>
        </p:spPr>
      </p:cxnSp>
      <p:sp>
        <p:nvSpPr>
          <p:cNvPr id="24" name="TextBox 23"/>
          <p:cNvSpPr txBox="1"/>
          <p:nvPr/>
        </p:nvSpPr>
        <p:spPr>
          <a:xfrm>
            <a:off x="548640" y="4663440"/>
            <a:ext cx="2926080" cy="548640"/>
          </a:xfrm>
          <a:prstGeom prst="rect">
            <a:avLst/>
          </a:prstGeom>
          <a:noFill/>
        </p:spPr>
        <p:txBody>
          <a:bodyPr wrap="square" anchor="ctr" lIns="0" rIns="0" tIns="0" bIns="0">
            <a:spAutoFit/>
          </a:bodyPr>
          <a:lstStyle/>
          <a:p>
            <a:pPr algn="l">
              <a:lnSpc>
                <a:spcPct val="105000"/>
              </a:lnSpc>
            </a:pPr>
            <a:r>
              <a:rPr sz="2000" b="1" i="0">
                <a:solidFill>
                  <a:srgbClr val="1B2430"/>
                </a:solidFill>
                <a:latin typeface="Calibri"/>
              </a:rPr>
              <a:t>Annotation so far:</a:t>
            </a:r>
          </a:p>
        </p:txBody>
      </p:sp>
      <p:sp>
        <p:nvSpPr>
          <p:cNvPr id="25" name="FILL_PLACEHOLDER"/>
          <p:cNvSpPr/>
          <p:nvPr/>
        </p:nvSpPr>
        <p:spPr>
          <a:xfrm>
            <a:off x="3474720" y="4663440"/>
            <a:ext cx="2377440" cy="548640"/>
          </a:xfrm>
          <a:prstGeom prst="roundRect">
            <a:avLst>
              <a:gd name="adj" fmla="val 8000"/>
            </a:avLst>
          </a:prstGeom>
          <a:solidFill>
            <a:srgbClr val="FBEFC4"/>
          </a:solidFill>
          <a:ln w="19050">
            <a:solidFill>
              <a:srgbClr val="E8B931"/>
            </a:solidFill>
          </a:ln>
          <a:effectLst/>
        </p:spPr>
        <p:txBody>
          <a:bodyPr rtlCol="0" anchor="ctr" lIns="109728" rIns="109728" tIns="36576" bIns="36576" wrap="square"/>
          <a:lstStyle/>
          <a:p>
            <a:pPr algn="ctr"/>
            <a:r>
              <a:rPr sz="2000" b="1">
                <a:solidFill>
                  <a:srgbClr val="1B2430"/>
                </a:solidFill>
                <a:latin typeface="Calibri"/>
              </a:rPr>
              <a:t>[FILL: N labelled]</a:t>
            </a:r>
          </a:p>
        </p:txBody>
      </p:sp>
      <p:sp>
        <p:nvSpPr>
          <p:cNvPr id="26" name="TextBox 25"/>
          <p:cNvSpPr txBox="1"/>
          <p:nvPr/>
        </p:nvSpPr>
        <p:spPr>
          <a:xfrm>
            <a:off x="5989320" y="4663440"/>
            <a:ext cx="5669280" cy="548640"/>
          </a:xfrm>
          <a:prstGeom prst="rect">
            <a:avLst/>
          </a:prstGeom>
          <a:noFill/>
        </p:spPr>
        <p:txBody>
          <a:bodyPr wrap="square" anchor="ctr" lIns="0" rIns="0" tIns="0" bIns="0">
            <a:spAutoFit/>
          </a:bodyPr>
          <a:lstStyle/>
          <a:p>
            <a:pPr algn="l">
              <a:lnSpc>
                <a:spcPct val="105000"/>
              </a:lnSpc>
            </a:pPr>
            <a:r>
              <a:rPr sz="2000" b="0" i="0">
                <a:solidFill>
                  <a:srgbClr val="1B2430"/>
                </a:solidFill>
                <a:latin typeface="Calibri"/>
              </a:rPr>
              <a:t>sentences</a:t>
            </a:r>
          </a:p>
        </p:txBody>
      </p:sp>
      <p:sp>
        <p:nvSpPr>
          <p:cNvPr id="27" name="TextBox 26"/>
          <p:cNvSpPr txBox="1"/>
          <p:nvPr/>
        </p:nvSpPr>
        <p:spPr>
          <a:xfrm>
            <a:off x="548640" y="5349240"/>
            <a:ext cx="11094415" cy="548640"/>
          </a:xfrm>
          <a:prstGeom prst="rect">
            <a:avLst/>
          </a:prstGeom>
          <a:noFill/>
        </p:spPr>
        <p:txBody>
          <a:bodyPr wrap="square" anchor="ctr" lIns="0" rIns="0" tIns="0" bIns="0">
            <a:spAutoFit/>
          </a:bodyPr>
          <a:lstStyle/>
          <a:p>
            <a:pPr algn="l">
              <a:lnSpc>
                <a:spcPct val="105000"/>
              </a:lnSpc>
            </a:pPr>
            <a:r>
              <a:rPr sz="2000" b="0" i="1">
                <a:solidFill>
                  <a:srgbClr val="6B7684"/>
                </a:solidFill>
                <a:latin typeface="Calibri"/>
              </a:rPr>
              <a:t>If none yet: “The annotation sheet is ready, and labelling starts next.”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525"/>
        </a:solidFill>
        <a:effectLst/>
      </p:bgPr>
    </p:bg>
    <p:spTree>
      <p:nvGrpSpPr>
        <p:cNvPr id="1" name=""/>
        <p:cNvGrpSpPr/>
        <p:nvPr/>
      </p:nvGrpSpPr>
      <p:grpSpPr/>
      <p:sp>
        <p:nvSpPr>
          <p:cNvPr id="2" name="TextBox 1"/>
          <p:cNvSpPr txBox="1"/>
          <p:nvPr/>
        </p:nvSpPr>
        <p:spPr>
          <a:xfrm>
            <a:off x="548640" y="502920"/>
            <a:ext cx="11094415" cy="640080"/>
          </a:xfrm>
          <a:prstGeom prst="rect">
            <a:avLst/>
          </a:prstGeom>
          <a:noFill/>
        </p:spPr>
        <p:txBody>
          <a:bodyPr wrap="square" anchor="ctr" lIns="0" rIns="0" tIns="0" bIns="0">
            <a:spAutoFit/>
          </a:bodyPr>
          <a:lstStyle/>
          <a:p>
            <a:pPr algn="l">
              <a:lnSpc>
                <a:spcPct val="105000"/>
              </a:lnSpc>
            </a:pPr>
            <a:r>
              <a:rPr sz="3400" b="1" i="0">
                <a:solidFill>
                  <a:srgbClr val="E6ECF5"/>
                </a:solidFill>
                <a:latin typeface="Calibri"/>
              </a:rPr>
              <a:t>Wrap-up</a:t>
            </a:r>
          </a:p>
        </p:txBody>
      </p:sp>
      <p:cxnSp>
        <p:nvCxnSpPr>
          <p:cNvPr id="3" name="Connector 2"/>
          <p:cNvCxnSpPr/>
          <p:nvPr/>
        </p:nvCxnSpPr>
        <p:spPr>
          <a:xfrm>
            <a:off x="548640" y="1234440"/>
            <a:ext cx="11094415" cy="0"/>
          </a:xfrm>
          <a:prstGeom prst="line">
            <a:avLst/>
          </a:prstGeom>
          <a:ln w="12700">
            <a:solidFill>
              <a:srgbClr val="4C8BF5"/>
            </a:solidFill>
          </a:ln>
        </p:spPr>
      </p:cxnSp>
      <p:sp>
        <p:nvSpPr>
          <p:cNvPr id="4" name="TextBox 3"/>
          <p:cNvSpPr txBox="1"/>
          <p:nvPr/>
        </p:nvSpPr>
        <p:spPr>
          <a:xfrm>
            <a:off x="10911535" y="6126480"/>
            <a:ext cx="731520" cy="274320"/>
          </a:xfrm>
          <a:prstGeom prst="rect">
            <a:avLst/>
          </a:prstGeom>
          <a:noFill/>
        </p:spPr>
        <p:txBody>
          <a:bodyPr wrap="square" anchor="ctr" lIns="0" rIns="0" tIns="0" bIns="0">
            <a:spAutoFit/>
          </a:bodyPr>
          <a:lstStyle/>
          <a:p>
            <a:pPr algn="r">
              <a:lnSpc>
                <a:spcPct val="105000"/>
              </a:lnSpc>
            </a:pPr>
            <a:r>
              <a:rPr sz="1600" b="0" i="0">
                <a:solidFill>
                  <a:srgbClr val="9AA6B8"/>
                </a:solidFill>
                <a:latin typeface="Calibri"/>
              </a:rPr>
              <a:t>9</a:t>
            </a:r>
          </a:p>
        </p:txBody>
      </p:sp>
      <p:sp>
        <p:nvSpPr>
          <p:cNvPr id="5" name="Rounded Rectangle 4"/>
          <p:cNvSpPr/>
          <p:nvPr/>
        </p:nvSpPr>
        <p:spPr>
          <a:xfrm>
            <a:off x="548640" y="1645920"/>
            <a:ext cx="11094415" cy="868680"/>
          </a:xfrm>
          <a:prstGeom prst="roundRect">
            <a:avLst>
              <a:gd name="adj" fmla="val 8000"/>
            </a:avLst>
          </a:prstGeom>
          <a:solidFill>
            <a:srgbClr val="17223A"/>
          </a:solidFill>
          <a:ln>
            <a:noFill/>
          </a:ln>
          <a:effectLst/>
        </p:spPr>
        <p:txBody>
          <a:bodyPr rtlCol="0" anchor="ctr"/>
          <a:lstStyle/>
          <a:p>
            <a:pPr algn="ctr"/>
          </a:p>
        </p:txBody>
      </p:sp>
      <p:sp>
        <p:nvSpPr>
          <p:cNvPr id="6" name="Rounded Rectangle 5"/>
          <p:cNvSpPr/>
          <p:nvPr/>
        </p:nvSpPr>
        <p:spPr>
          <a:xfrm>
            <a:off x="822959" y="1865376"/>
            <a:ext cx="429768" cy="429768"/>
          </a:xfrm>
          <a:prstGeom prst="roundRect">
            <a:avLst>
              <a:gd name="adj" fmla="val 8000"/>
            </a:avLst>
          </a:prstGeom>
          <a:solidFill>
            <a:srgbClr val="4C8BF5"/>
          </a:solidFill>
          <a:ln>
            <a:noFill/>
          </a:ln>
          <a:effectLst/>
        </p:spPr>
        <p:txBody>
          <a:bodyPr rtlCol="0" anchor="ctr"/>
          <a:lstStyle/>
          <a:p>
            <a:pPr algn="ctr"/>
          </a:p>
        </p:txBody>
      </p:sp>
      <p:sp>
        <p:nvSpPr>
          <p:cNvPr id="7" name="TextBox 6"/>
          <p:cNvSpPr txBox="1"/>
          <p:nvPr/>
        </p:nvSpPr>
        <p:spPr>
          <a:xfrm>
            <a:off x="822959" y="1865376"/>
            <a:ext cx="429768" cy="429768"/>
          </a:xfrm>
          <a:prstGeom prst="rect">
            <a:avLst/>
          </a:prstGeom>
          <a:noFill/>
        </p:spPr>
        <p:txBody>
          <a:bodyPr wrap="square" anchor="ctr" lIns="0" rIns="0" tIns="0" bIns="0">
            <a:spAutoFit/>
          </a:bodyPr>
          <a:lstStyle/>
          <a:p>
            <a:pPr algn="ctr">
              <a:lnSpc>
                <a:spcPct val="105000"/>
              </a:lnSpc>
            </a:pPr>
            <a:r>
              <a:rPr sz="1600" b="1" i="0">
                <a:solidFill>
                  <a:srgbClr val="FFFFFF"/>
                </a:solidFill>
                <a:latin typeface="Calibri"/>
              </a:rPr>
              <a:t>1</a:t>
            </a:r>
          </a:p>
        </p:txBody>
      </p:sp>
      <p:sp>
        <p:nvSpPr>
          <p:cNvPr id="8" name="TextBox 7"/>
          <p:cNvSpPr txBox="1"/>
          <p:nvPr/>
        </p:nvSpPr>
        <p:spPr>
          <a:xfrm>
            <a:off x="1508760" y="1645920"/>
            <a:ext cx="6400800" cy="868680"/>
          </a:xfrm>
          <a:prstGeom prst="rect">
            <a:avLst/>
          </a:prstGeom>
          <a:noFill/>
        </p:spPr>
        <p:txBody>
          <a:bodyPr wrap="square" anchor="ctr" lIns="0" rIns="0" tIns="0" bIns="0">
            <a:spAutoFit/>
          </a:bodyPr>
          <a:lstStyle/>
          <a:p>
            <a:pPr algn="l">
              <a:lnSpc>
                <a:spcPct val="105000"/>
              </a:lnSpc>
            </a:pPr>
            <a:r>
              <a:rPr sz="2400" b="0" i="0">
                <a:solidFill>
                  <a:srgbClr val="E6ECF5"/>
                </a:solidFill>
                <a:latin typeface="Calibri"/>
              </a:rPr>
              <a:t>Replication works</a:t>
            </a:r>
          </a:p>
        </p:txBody>
      </p:sp>
      <p:sp>
        <p:nvSpPr>
          <p:cNvPr id="9" name="Rounded Rectangle 8"/>
          <p:cNvSpPr/>
          <p:nvPr/>
        </p:nvSpPr>
        <p:spPr>
          <a:xfrm>
            <a:off x="548640" y="2697480"/>
            <a:ext cx="11094415" cy="868680"/>
          </a:xfrm>
          <a:prstGeom prst="roundRect">
            <a:avLst>
              <a:gd name="adj" fmla="val 8000"/>
            </a:avLst>
          </a:prstGeom>
          <a:solidFill>
            <a:srgbClr val="17223A"/>
          </a:solidFill>
          <a:ln>
            <a:noFill/>
          </a:ln>
          <a:effectLst/>
        </p:spPr>
        <p:txBody>
          <a:bodyPr rtlCol="0" anchor="ctr"/>
          <a:lstStyle/>
          <a:p>
            <a:pPr algn="ctr"/>
          </a:p>
        </p:txBody>
      </p:sp>
      <p:sp>
        <p:nvSpPr>
          <p:cNvPr id="10" name="Rounded Rectangle 9"/>
          <p:cNvSpPr/>
          <p:nvPr/>
        </p:nvSpPr>
        <p:spPr>
          <a:xfrm>
            <a:off x="822959" y="2916936"/>
            <a:ext cx="429768" cy="429768"/>
          </a:xfrm>
          <a:prstGeom prst="roundRect">
            <a:avLst>
              <a:gd name="adj" fmla="val 8000"/>
            </a:avLst>
          </a:prstGeom>
          <a:solidFill>
            <a:srgbClr val="4C8BF5"/>
          </a:solidFill>
          <a:ln>
            <a:noFill/>
          </a:ln>
          <a:effectLst/>
        </p:spPr>
        <p:txBody>
          <a:bodyPr rtlCol="0" anchor="ctr"/>
          <a:lstStyle/>
          <a:p>
            <a:pPr algn="ctr"/>
          </a:p>
        </p:txBody>
      </p:sp>
      <p:sp>
        <p:nvSpPr>
          <p:cNvPr id="11" name="TextBox 10"/>
          <p:cNvSpPr txBox="1"/>
          <p:nvPr/>
        </p:nvSpPr>
        <p:spPr>
          <a:xfrm>
            <a:off x="822959" y="2916936"/>
            <a:ext cx="429768" cy="429768"/>
          </a:xfrm>
          <a:prstGeom prst="rect">
            <a:avLst/>
          </a:prstGeom>
          <a:noFill/>
        </p:spPr>
        <p:txBody>
          <a:bodyPr wrap="square" anchor="ctr" lIns="0" rIns="0" tIns="0" bIns="0">
            <a:spAutoFit/>
          </a:bodyPr>
          <a:lstStyle/>
          <a:p>
            <a:pPr algn="ctr">
              <a:lnSpc>
                <a:spcPct val="105000"/>
              </a:lnSpc>
            </a:pPr>
            <a:r>
              <a:rPr sz="1600" b="1" i="0">
                <a:solidFill>
                  <a:srgbClr val="FFFFFF"/>
                </a:solidFill>
                <a:latin typeface="Calibri"/>
              </a:rPr>
              <a:t>2</a:t>
            </a:r>
          </a:p>
        </p:txBody>
      </p:sp>
      <p:sp>
        <p:nvSpPr>
          <p:cNvPr id="12" name="TextBox 11"/>
          <p:cNvSpPr txBox="1"/>
          <p:nvPr/>
        </p:nvSpPr>
        <p:spPr>
          <a:xfrm>
            <a:off x="1508760" y="2697480"/>
            <a:ext cx="6400800" cy="868680"/>
          </a:xfrm>
          <a:prstGeom prst="rect">
            <a:avLst/>
          </a:prstGeom>
          <a:noFill/>
        </p:spPr>
        <p:txBody>
          <a:bodyPr wrap="square" anchor="ctr" lIns="0" rIns="0" tIns="0" bIns="0">
            <a:spAutoFit/>
          </a:bodyPr>
          <a:lstStyle/>
          <a:p>
            <a:pPr algn="l">
              <a:lnSpc>
                <a:spcPct val="105000"/>
              </a:lnSpc>
            </a:pPr>
            <a:r>
              <a:rPr sz="2400" b="0" i="0">
                <a:solidFill>
                  <a:srgbClr val="E6ECF5"/>
                </a:solidFill>
                <a:latin typeface="Calibri"/>
              </a:rPr>
              <a:t>Two extra datasets are done</a:t>
            </a:r>
          </a:p>
        </p:txBody>
      </p:sp>
      <p:sp>
        <p:nvSpPr>
          <p:cNvPr id="13" name="Rounded Rectangle 12"/>
          <p:cNvSpPr/>
          <p:nvPr/>
        </p:nvSpPr>
        <p:spPr>
          <a:xfrm>
            <a:off x="548640" y="3749039"/>
            <a:ext cx="11094415" cy="868680"/>
          </a:xfrm>
          <a:prstGeom prst="roundRect">
            <a:avLst>
              <a:gd name="adj" fmla="val 8000"/>
            </a:avLst>
          </a:prstGeom>
          <a:solidFill>
            <a:srgbClr val="17223A"/>
          </a:solidFill>
          <a:ln>
            <a:noFill/>
          </a:ln>
          <a:effectLst/>
        </p:spPr>
        <p:txBody>
          <a:bodyPr rtlCol="0" anchor="ctr"/>
          <a:lstStyle/>
          <a:p>
            <a:pPr algn="ctr"/>
          </a:p>
        </p:txBody>
      </p:sp>
      <p:sp>
        <p:nvSpPr>
          <p:cNvPr id="14" name="Rounded Rectangle 13"/>
          <p:cNvSpPr/>
          <p:nvPr/>
        </p:nvSpPr>
        <p:spPr>
          <a:xfrm>
            <a:off x="822959" y="3968496"/>
            <a:ext cx="429768" cy="429768"/>
          </a:xfrm>
          <a:prstGeom prst="roundRect">
            <a:avLst>
              <a:gd name="adj" fmla="val 8000"/>
            </a:avLst>
          </a:prstGeom>
          <a:solidFill>
            <a:srgbClr val="4C8BF5"/>
          </a:solidFill>
          <a:ln>
            <a:noFill/>
          </a:ln>
          <a:effectLst/>
        </p:spPr>
        <p:txBody>
          <a:bodyPr rtlCol="0" anchor="ctr"/>
          <a:lstStyle/>
          <a:p>
            <a:pPr algn="ctr"/>
          </a:p>
        </p:txBody>
      </p:sp>
      <p:sp>
        <p:nvSpPr>
          <p:cNvPr id="15" name="TextBox 14"/>
          <p:cNvSpPr txBox="1"/>
          <p:nvPr/>
        </p:nvSpPr>
        <p:spPr>
          <a:xfrm>
            <a:off x="822959" y="3968496"/>
            <a:ext cx="429768" cy="429768"/>
          </a:xfrm>
          <a:prstGeom prst="rect">
            <a:avLst/>
          </a:prstGeom>
          <a:noFill/>
        </p:spPr>
        <p:txBody>
          <a:bodyPr wrap="square" anchor="ctr" lIns="0" rIns="0" tIns="0" bIns="0">
            <a:spAutoFit/>
          </a:bodyPr>
          <a:lstStyle/>
          <a:p>
            <a:pPr algn="ctr">
              <a:lnSpc>
                <a:spcPct val="105000"/>
              </a:lnSpc>
            </a:pPr>
            <a:r>
              <a:rPr sz="1600" b="1" i="0">
                <a:solidFill>
                  <a:srgbClr val="FFFFFF"/>
                </a:solidFill>
                <a:latin typeface="Calibri"/>
              </a:rPr>
              <a:t>3</a:t>
            </a:r>
          </a:p>
        </p:txBody>
      </p:sp>
      <p:sp>
        <p:nvSpPr>
          <p:cNvPr id="16" name="TextBox 15"/>
          <p:cNvSpPr txBox="1"/>
          <p:nvPr/>
        </p:nvSpPr>
        <p:spPr>
          <a:xfrm>
            <a:off x="1508760" y="3749039"/>
            <a:ext cx="6400800" cy="868680"/>
          </a:xfrm>
          <a:prstGeom prst="rect">
            <a:avLst/>
          </a:prstGeom>
          <a:noFill/>
        </p:spPr>
        <p:txBody>
          <a:bodyPr wrap="square" anchor="ctr" lIns="0" rIns="0" tIns="0" bIns="0">
            <a:spAutoFit/>
          </a:bodyPr>
          <a:lstStyle/>
          <a:p>
            <a:pPr algn="l">
              <a:lnSpc>
                <a:spcPct val="105000"/>
              </a:lnSpc>
            </a:pPr>
            <a:r>
              <a:rPr sz="2400" b="0" i="0">
                <a:solidFill>
                  <a:srgbClr val="E6ECF5"/>
                </a:solidFill>
                <a:latin typeface="Calibri"/>
              </a:rPr>
              <a:t>Own dataset is built and</a:t>
            </a:r>
          </a:p>
        </p:txBody>
      </p:sp>
      <p:sp>
        <p:nvSpPr>
          <p:cNvPr id="17" name="FILL_PLACEHOLDER"/>
          <p:cNvSpPr/>
          <p:nvPr/>
        </p:nvSpPr>
        <p:spPr>
          <a:xfrm>
            <a:off x="4775282" y="3913631"/>
            <a:ext cx="4572000" cy="548640"/>
          </a:xfrm>
          <a:prstGeom prst="roundRect">
            <a:avLst>
              <a:gd name="adj" fmla="val 8000"/>
            </a:avLst>
          </a:prstGeom>
          <a:solidFill>
            <a:srgbClr val="FBEFC4"/>
          </a:solidFill>
          <a:ln w="19050">
            <a:solidFill>
              <a:srgbClr val="E8B931"/>
            </a:solidFill>
          </a:ln>
          <a:effectLst/>
        </p:spPr>
        <p:txBody>
          <a:bodyPr rtlCol="0" anchor="ctr" lIns="109728" rIns="109728" tIns="36576" bIns="36576" wrap="square"/>
          <a:lstStyle/>
          <a:p>
            <a:pPr algn="ctr"/>
            <a:r>
              <a:rPr sz="1800" b="1">
                <a:solidFill>
                  <a:srgbClr val="1B2430"/>
                </a:solidFill>
                <a:latin typeface="Calibri"/>
              </a:rPr>
              <a:t>[FILL: partly labelled / ready to label]</a:t>
            </a:r>
          </a:p>
        </p:txBody>
      </p:sp>
      <p:cxnSp>
        <p:nvCxnSpPr>
          <p:cNvPr id="18" name="Connector 17"/>
          <p:cNvCxnSpPr/>
          <p:nvPr/>
        </p:nvCxnSpPr>
        <p:spPr>
          <a:xfrm>
            <a:off x="548640" y="5074920"/>
            <a:ext cx="11094415" cy="0"/>
          </a:xfrm>
          <a:prstGeom prst="line">
            <a:avLst/>
          </a:prstGeom>
          <a:ln w="12700">
            <a:solidFill>
              <a:srgbClr val="4C8BF5"/>
            </a:solidFill>
          </a:ln>
        </p:spPr>
      </p:cxnSp>
      <p:sp>
        <p:nvSpPr>
          <p:cNvPr id="19" name="TextBox 18"/>
          <p:cNvSpPr txBox="1"/>
          <p:nvPr/>
        </p:nvSpPr>
        <p:spPr>
          <a:xfrm>
            <a:off x="548640" y="5212080"/>
            <a:ext cx="11094415" cy="640080"/>
          </a:xfrm>
          <a:prstGeom prst="rect">
            <a:avLst/>
          </a:prstGeom>
          <a:noFill/>
        </p:spPr>
        <p:txBody>
          <a:bodyPr wrap="square" anchor="ctr" lIns="0" rIns="0" tIns="0" bIns="0">
            <a:spAutoFit/>
          </a:bodyPr>
          <a:lstStyle/>
          <a:p>
            <a:pPr algn="l">
              <a:lnSpc>
                <a:spcPct val="105000"/>
              </a:lnSpc>
            </a:pPr>
            <a:r>
              <a:rPr sz="2200" b="1" i="0">
                <a:solidFill>
                  <a:srgbClr val="4C8BF5"/>
                </a:solidFill>
                <a:latin typeface="Calibri"/>
              </a:rPr>
              <a:t>Next: </a:t>
            </a:r>
            <a:r>
              <a:rPr sz="2200" b="0" i="0">
                <a:solidFill>
                  <a:srgbClr val="E6ECF5"/>
                </a:solidFill>
                <a:latin typeface="Calibri"/>
              </a:rPr>
              <a:t>finish annotation, run REPaL on arXiv.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640080"/>
          </a:xfrm>
          <a:prstGeom prst="rect">
            <a:avLst/>
          </a:prstGeom>
          <a:noFill/>
        </p:spPr>
        <p:txBody>
          <a:bodyPr wrap="square" anchor="ctr" lIns="0" rIns="0" tIns="0" bIns="0">
            <a:spAutoFit/>
          </a:bodyPr>
          <a:lstStyle/>
          <a:p>
            <a:pPr algn="l">
              <a:lnSpc>
                <a:spcPct val="105000"/>
              </a:lnSpc>
            </a:pPr>
            <a:r>
              <a:rPr sz="3400" b="1" i="0">
                <a:solidFill>
                  <a:srgbClr val="1B2430"/>
                </a:solidFill>
                <a:latin typeface="Calibri"/>
              </a:rPr>
              <a:t>Backup — verified facts</a:t>
            </a:r>
          </a:p>
        </p:txBody>
      </p:sp>
      <p:cxnSp>
        <p:nvCxnSpPr>
          <p:cNvPr id="3" name="Connector 2"/>
          <p:cNvCxnSpPr/>
          <p:nvPr/>
        </p:nvCxnSpPr>
        <p:spPr>
          <a:xfrm>
            <a:off x="548640" y="1234440"/>
            <a:ext cx="11094415" cy="0"/>
          </a:xfrm>
          <a:prstGeom prst="line">
            <a:avLst/>
          </a:prstGeom>
          <a:ln w="12700">
            <a:solidFill>
              <a:srgbClr val="4C8BF5"/>
            </a:solidFill>
          </a:ln>
        </p:spPr>
      </p:cxnSp>
      <p:sp>
        <p:nvSpPr>
          <p:cNvPr id="4" name="TextBox 3"/>
          <p:cNvSpPr txBox="1"/>
          <p:nvPr/>
        </p:nvSpPr>
        <p:spPr>
          <a:xfrm>
            <a:off x="10911535" y="6126480"/>
            <a:ext cx="731520" cy="274320"/>
          </a:xfrm>
          <a:prstGeom prst="rect">
            <a:avLst/>
          </a:prstGeom>
          <a:noFill/>
        </p:spPr>
        <p:txBody>
          <a:bodyPr wrap="square" anchor="ctr" lIns="0" rIns="0" tIns="0" bIns="0">
            <a:spAutoFit/>
          </a:bodyPr>
          <a:lstStyle/>
          <a:p>
            <a:pPr algn="r">
              <a:lnSpc>
                <a:spcPct val="105000"/>
              </a:lnSpc>
            </a:pPr>
            <a:r>
              <a:rPr sz="1600" b="0" i="0">
                <a:solidFill>
                  <a:srgbClr val="6B7684"/>
                </a:solidFill>
                <a:latin typeface="Calibri"/>
              </a:rPr>
              <a:t>10</a:t>
            </a:r>
          </a:p>
        </p:txBody>
      </p:sp>
      <p:sp>
        <p:nvSpPr>
          <p:cNvPr id="5" name="Rounded Rectangle 4"/>
          <p:cNvSpPr/>
          <p:nvPr/>
        </p:nvSpPr>
        <p:spPr>
          <a:xfrm>
            <a:off x="6949440" y="612648"/>
            <a:ext cx="4690872" cy="420624"/>
          </a:xfrm>
          <a:prstGeom prst="roundRect">
            <a:avLst>
              <a:gd name="adj" fmla="val 8000"/>
            </a:avLst>
          </a:prstGeom>
          <a:solidFill>
            <a:srgbClr val="FFFFFF"/>
          </a:solidFill>
          <a:ln w="15875">
            <a:solidFill>
              <a:srgbClr val="4C8BF5"/>
            </a:solidFill>
          </a:ln>
          <a:effectLst/>
        </p:spPr>
        <p:txBody>
          <a:bodyPr rtlCol="0" anchor="ctr"/>
          <a:lstStyle/>
          <a:p>
            <a:pPr algn="ctr"/>
          </a:p>
        </p:txBody>
      </p:sp>
      <p:sp>
        <p:nvSpPr>
          <p:cNvPr id="6" name="TextBox 5"/>
          <p:cNvSpPr txBox="1"/>
          <p:nvPr/>
        </p:nvSpPr>
        <p:spPr>
          <a:xfrm>
            <a:off x="6949440" y="612648"/>
            <a:ext cx="4690872" cy="420624"/>
          </a:xfrm>
          <a:prstGeom prst="rect">
            <a:avLst/>
          </a:prstGeom>
          <a:noFill/>
        </p:spPr>
        <p:txBody>
          <a:bodyPr wrap="square" anchor="ctr" lIns="0" rIns="0" tIns="0" bIns="0">
            <a:spAutoFit/>
          </a:bodyPr>
          <a:lstStyle/>
          <a:p>
            <a:pPr algn="ctr">
              <a:lnSpc>
                <a:spcPct val="105000"/>
              </a:lnSpc>
            </a:pPr>
            <a:r>
              <a:rPr sz="1600" b="1" i="0">
                <a:solidFill>
                  <a:srgbClr val="4C8BF5"/>
                </a:solidFill>
                <a:latin typeface="Calibri"/>
              </a:rPr>
              <a:t>NOT FOR THE 5-MINUTE RECORDING</a:t>
            </a:r>
          </a:p>
        </p:txBody>
      </p:sp>
      <p:sp>
        <p:nvSpPr>
          <p:cNvPr id="7" name="Rectangle 6"/>
          <p:cNvSpPr/>
          <p:nvPr/>
        </p:nvSpPr>
        <p:spPr>
          <a:xfrm>
            <a:off x="548640" y="1618488"/>
            <a:ext cx="91440" cy="91440"/>
          </a:xfrm>
          <a:prstGeom prst="rect">
            <a:avLst/>
          </a:prstGeom>
          <a:solidFill>
            <a:srgbClr val="4C8BF5"/>
          </a:solidFill>
          <a:ln>
            <a:noFill/>
          </a:ln>
          <a:effectLst/>
        </p:spPr>
        <p:txBody>
          <a:bodyPr rtlCol="0" anchor="ctr"/>
          <a:lstStyle/>
          <a:p>
            <a:pPr algn="ctr"/>
          </a:p>
        </p:txBody>
      </p:sp>
      <p:sp>
        <p:nvSpPr>
          <p:cNvPr id="8" name="TextBox 7"/>
          <p:cNvSpPr txBox="1"/>
          <p:nvPr/>
        </p:nvSpPr>
        <p:spPr>
          <a:xfrm>
            <a:off x="822959" y="1508760"/>
            <a:ext cx="10820095" cy="548640"/>
          </a:xfrm>
          <a:prstGeom prst="rect">
            <a:avLst/>
          </a:prstGeom>
          <a:noFill/>
        </p:spPr>
        <p:txBody>
          <a:bodyPr wrap="square" anchor="t" lIns="0" rIns="0" tIns="0" bIns="0">
            <a:spAutoFit/>
          </a:bodyPr>
          <a:lstStyle/>
          <a:p>
            <a:pPr algn="l">
              <a:lnSpc>
                <a:spcPct val="100000"/>
              </a:lnSpc>
            </a:pPr>
            <a:r>
              <a:rPr sz="1600" b="1" i="0">
                <a:solidFill>
                  <a:srgbClr val="1B2430"/>
                </a:solidFill>
                <a:latin typeface="Calibri"/>
              </a:rPr>
              <a:t>Local Qwen: </a:t>
            </a:r>
            <a:r>
              <a:rPr sz="1600" b="0" i="0">
                <a:solidFill>
                  <a:srgbClr val="6B7684"/>
                </a:solidFill>
                <a:latin typeface="Calibri"/>
              </a:rPr>
              <a:t>credits ran out; SemEval and NYT used Qwen2.5-32B. Qwen3-32B on SemEval: 25.1 initial, 19.6 follow-up.</a:t>
            </a:r>
          </a:p>
        </p:txBody>
      </p:sp>
      <p:sp>
        <p:nvSpPr>
          <p:cNvPr id="9" name="Rectangle 8"/>
          <p:cNvSpPr/>
          <p:nvPr/>
        </p:nvSpPr>
        <p:spPr>
          <a:xfrm>
            <a:off x="548640" y="2167128"/>
            <a:ext cx="91440" cy="91440"/>
          </a:xfrm>
          <a:prstGeom prst="rect">
            <a:avLst/>
          </a:prstGeom>
          <a:solidFill>
            <a:srgbClr val="4C8BF5"/>
          </a:solidFill>
          <a:ln>
            <a:noFill/>
          </a:ln>
          <a:effectLst/>
        </p:spPr>
        <p:txBody>
          <a:bodyPr rtlCol="0" anchor="ctr"/>
          <a:lstStyle/>
          <a:p>
            <a:pPr algn="ctr"/>
          </a:p>
        </p:txBody>
      </p:sp>
      <p:sp>
        <p:nvSpPr>
          <p:cNvPr id="10" name="TextBox 9"/>
          <p:cNvSpPr txBox="1"/>
          <p:nvPr/>
        </p:nvSpPr>
        <p:spPr>
          <a:xfrm>
            <a:off x="822959" y="2057400"/>
            <a:ext cx="10820095" cy="548640"/>
          </a:xfrm>
          <a:prstGeom prst="rect">
            <a:avLst/>
          </a:prstGeom>
          <a:noFill/>
        </p:spPr>
        <p:txBody>
          <a:bodyPr wrap="square" anchor="t" lIns="0" rIns="0" tIns="0" bIns="0">
            <a:spAutoFit/>
          </a:bodyPr>
          <a:lstStyle/>
          <a:p>
            <a:pPr algn="l">
              <a:lnSpc>
                <a:spcPct val="100000"/>
              </a:lnSpc>
            </a:pPr>
            <a:r>
              <a:rPr sz="1600" b="1" i="0">
                <a:solidFill>
                  <a:srgbClr val="1B2430"/>
                </a:solidFill>
                <a:latin typeface="Calibri"/>
              </a:rPr>
              <a:t>Archived GPT-4o SemEval run: </a:t>
            </a:r>
            <a:r>
              <a:rPr sz="1600" b="0" i="0">
                <a:solidFill>
                  <a:srgbClr val="6B7684"/>
                </a:solidFill>
                <a:latin typeface="Calibri"/>
              </a:rPr>
              <a:t>35.7 initial, stopped when credits ran out. Single runs: only a hint.</a:t>
            </a:r>
          </a:p>
        </p:txBody>
      </p:sp>
      <p:sp>
        <p:nvSpPr>
          <p:cNvPr id="11" name="Rectangle 10"/>
          <p:cNvSpPr/>
          <p:nvPr/>
        </p:nvSpPr>
        <p:spPr>
          <a:xfrm>
            <a:off x="548640" y="2715768"/>
            <a:ext cx="91440" cy="91440"/>
          </a:xfrm>
          <a:prstGeom prst="rect">
            <a:avLst/>
          </a:prstGeom>
          <a:solidFill>
            <a:srgbClr val="4C8BF5"/>
          </a:solidFill>
          <a:ln>
            <a:noFill/>
          </a:ln>
          <a:effectLst/>
        </p:spPr>
        <p:txBody>
          <a:bodyPr rtlCol="0" anchor="ctr"/>
          <a:lstStyle/>
          <a:p>
            <a:pPr algn="ctr"/>
          </a:p>
        </p:txBody>
      </p:sp>
      <p:sp>
        <p:nvSpPr>
          <p:cNvPr id="12" name="TextBox 11"/>
          <p:cNvSpPr txBox="1"/>
          <p:nvPr/>
        </p:nvSpPr>
        <p:spPr>
          <a:xfrm>
            <a:off x="822959" y="2606040"/>
            <a:ext cx="10820095" cy="548640"/>
          </a:xfrm>
          <a:prstGeom prst="rect">
            <a:avLst/>
          </a:prstGeom>
          <a:noFill/>
        </p:spPr>
        <p:txBody>
          <a:bodyPr wrap="square" anchor="t" lIns="0" rIns="0" tIns="0" bIns="0">
            <a:spAutoFit/>
          </a:bodyPr>
          <a:lstStyle/>
          <a:p>
            <a:pPr algn="l">
              <a:lnSpc>
                <a:spcPct val="100000"/>
              </a:lnSpc>
            </a:pPr>
            <a:r>
              <a:rPr sz="1600" b="1" i="0">
                <a:solidFill>
                  <a:srgbClr val="1B2430"/>
                </a:solidFill>
                <a:latin typeface="Calibri"/>
              </a:rPr>
              <a:t>Runs: </a:t>
            </a:r>
            <a:r>
              <a:rPr sz="1600" b="0" i="0">
                <a:solidFill>
                  <a:srgbClr val="6B7684"/>
                </a:solidFill>
                <a:latin typeface="Calibri"/>
              </a:rPr>
              <a:t>26 finished without errors; nyt_qwen3 was not run, on purpose.</a:t>
            </a:r>
          </a:p>
        </p:txBody>
      </p:sp>
      <p:sp>
        <p:nvSpPr>
          <p:cNvPr id="13" name="Rectangle 12"/>
          <p:cNvSpPr/>
          <p:nvPr/>
        </p:nvSpPr>
        <p:spPr>
          <a:xfrm>
            <a:off x="548640" y="3264408"/>
            <a:ext cx="91440" cy="91440"/>
          </a:xfrm>
          <a:prstGeom prst="rect">
            <a:avLst/>
          </a:prstGeom>
          <a:solidFill>
            <a:srgbClr val="4C8BF5"/>
          </a:solidFill>
          <a:ln>
            <a:noFill/>
          </a:ln>
          <a:effectLst/>
        </p:spPr>
        <p:txBody>
          <a:bodyPr rtlCol="0" anchor="ctr"/>
          <a:lstStyle/>
          <a:p>
            <a:pPr algn="ctr"/>
          </a:p>
        </p:txBody>
      </p:sp>
      <p:sp>
        <p:nvSpPr>
          <p:cNvPr id="14" name="TextBox 13"/>
          <p:cNvSpPr txBox="1"/>
          <p:nvPr/>
        </p:nvSpPr>
        <p:spPr>
          <a:xfrm>
            <a:off x="822959" y="3154680"/>
            <a:ext cx="10820095" cy="548640"/>
          </a:xfrm>
          <a:prstGeom prst="rect">
            <a:avLst/>
          </a:prstGeom>
          <a:noFill/>
        </p:spPr>
        <p:txBody>
          <a:bodyPr wrap="square" anchor="t" lIns="0" rIns="0" tIns="0" bIns="0">
            <a:spAutoFit/>
          </a:bodyPr>
          <a:lstStyle/>
          <a:p>
            <a:pPr algn="l">
              <a:lnSpc>
                <a:spcPct val="100000"/>
              </a:lnSpc>
            </a:pPr>
            <a:r>
              <a:rPr sz="1600" b="1" i="0">
                <a:solidFill>
                  <a:srgbClr val="1B2430"/>
                </a:solidFill>
                <a:latin typeface="Calibri"/>
              </a:rPr>
              <a:t>Low F1 (19) next to P (45), R (20): </a:t>
            </a:r>
            <a:r>
              <a:rPr sz="1600" b="0" i="0">
                <a:solidFill>
                  <a:srgbClr val="6B7684"/>
                </a:solidFill>
                <a:latin typeface="Calibri"/>
              </a:rPr>
              <a:t>the paper averages P, R and F1 over test iterations.</a:t>
            </a:r>
          </a:p>
        </p:txBody>
      </p:sp>
      <p:sp>
        <p:nvSpPr>
          <p:cNvPr id="15" name="Rectangle 14"/>
          <p:cNvSpPr/>
          <p:nvPr/>
        </p:nvSpPr>
        <p:spPr>
          <a:xfrm>
            <a:off x="548640" y="3813048"/>
            <a:ext cx="91440" cy="91440"/>
          </a:xfrm>
          <a:prstGeom prst="rect">
            <a:avLst/>
          </a:prstGeom>
          <a:solidFill>
            <a:srgbClr val="4C8BF5"/>
          </a:solidFill>
          <a:ln>
            <a:noFill/>
          </a:ln>
          <a:effectLst/>
        </p:spPr>
        <p:txBody>
          <a:bodyPr rtlCol="0" anchor="ctr"/>
          <a:lstStyle/>
          <a:p>
            <a:pPr algn="ctr"/>
          </a:p>
        </p:txBody>
      </p:sp>
      <p:sp>
        <p:nvSpPr>
          <p:cNvPr id="16" name="TextBox 15"/>
          <p:cNvSpPr txBox="1"/>
          <p:nvPr/>
        </p:nvSpPr>
        <p:spPr>
          <a:xfrm>
            <a:off x="822959" y="3703320"/>
            <a:ext cx="10820095" cy="548640"/>
          </a:xfrm>
          <a:prstGeom prst="rect">
            <a:avLst/>
          </a:prstGeom>
          <a:noFill/>
        </p:spPr>
        <p:txBody>
          <a:bodyPr wrap="square" anchor="t" lIns="0" rIns="0" tIns="0" bIns="0">
            <a:spAutoFit/>
          </a:bodyPr>
          <a:lstStyle/>
          <a:p>
            <a:pPr algn="l">
              <a:lnSpc>
                <a:spcPct val="100000"/>
              </a:lnSpc>
            </a:pPr>
            <a:r>
              <a:rPr sz="1600" b="1" i="0">
                <a:solidFill>
                  <a:srgbClr val="1B2430"/>
                </a:solidFill>
                <a:latin typeface="Calibri"/>
              </a:rPr>
              <a:t>SemEval hypothesis (untested): </a:t>
            </a:r>
            <a:r>
              <a:rPr sz="1600" b="0" i="0">
                <a:solidFill>
                  <a:srgbClr val="6B7684"/>
                </a:solidFill>
                <a:latin typeface="Calibri"/>
              </a:rPr>
              <a:t>model-written entities ~4–5 tokens; SemEval's are single words.</a:t>
            </a:r>
          </a:p>
        </p:txBody>
      </p:sp>
      <p:sp>
        <p:nvSpPr>
          <p:cNvPr id="17" name="Rectangle 16"/>
          <p:cNvSpPr/>
          <p:nvPr/>
        </p:nvSpPr>
        <p:spPr>
          <a:xfrm>
            <a:off x="548640" y="4361688"/>
            <a:ext cx="91440" cy="91440"/>
          </a:xfrm>
          <a:prstGeom prst="rect">
            <a:avLst/>
          </a:prstGeom>
          <a:solidFill>
            <a:srgbClr val="4C8BF5"/>
          </a:solidFill>
          <a:ln>
            <a:noFill/>
          </a:ln>
          <a:effectLst/>
        </p:spPr>
        <p:txBody>
          <a:bodyPr rtlCol="0" anchor="ctr"/>
          <a:lstStyle/>
          <a:p>
            <a:pPr algn="ctr"/>
          </a:p>
        </p:txBody>
      </p:sp>
      <p:sp>
        <p:nvSpPr>
          <p:cNvPr id="18" name="TextBox 17"/>
          <p:cNvSpPr txBox="1"/>
          <p:nvPr/>
        </p:nvSpPr>
        <p:spPr>
          <a:xfrm>
            <a:off x="822959" y="4251959"/>
            <a:ext cx="10820095" cy="548640"/>
          </a:xfrm>
          <a:prstGeom prst="rect">
            <a:avLst/>
          </a:prstGeom>
          <a:noFill/>
        </p:spPr>
        <p:txBody>
          <a:bodyPr wrap="square" anchor="t" lIns="0" rIns="0" tIns="0" bIns="0">
            <a:spAutoFit/>
          </a:bodyPr>
          <a:lstStyle/>
          <a:p>
            <a:pPr algn="l">
              <a:lnSpc>
                <a:spcPct val="100000"/>
              </a:lnSpc>
            </a:pPr>
            <a:r>
              <a:rPr sz="1600" b="1" i="0">
                <a:solidFill>
                  <a:srgbClr val="1B2430"/>
                </a:solidFill>
                <a:latin typeface="Calibri"/>
              </a:rPr>
              <a:t>Pool size: </a:t>
            </a:r>
            <a:r>
              <a:rPr sz="1600" b="0" i="0">
                <a:solidFill>
                  <a:srgbClr val="6B7684"/>
                </a:solidFill>
                <a:latin typeface="Calibri"/>
              </a:rPr>
              <a:t>paper uses 10,000 unlabelled per group. My 10k run (71.6 / 68.1) mixes GPT-4o seeds, Qwen follow-up.</a:t>
            </a:r>
          </a:p>
        </p:txBody>
      </p:sp>
      <p:sp>
        <p:nvSpPr>
          <p:cNvPr id="19" name="Rectangle 18"/>
          <p:cNvSpPr/>
          <p:nvPr/>
        </p:nvSpPr>
        <p:spPr>
          <a:xfrm>
            <a:off x="548640" y="4910327"/>
            <a:ext cx="91440" cy="91440"/>
          </a:xfrm>
          <a:prstGeom prst="rect">
            <a:avLst/>
          </a:prstGeom>
          <a:solidFill>
            <a:srgbClr val="4C8BF5"/>
          </a:solidFill>
          <a:ln>
            <a:noFill/>
          </a:ln>
          <a:effectLst/>
        </p:spPr>
        <p:txBody>
          <a:bodyPr rtlCol="0" anchor="ctr"/>
          <a:lstStyle/>
          <a:p>
            <a:pPr algn="ctr"/>
          </a:p>
        </p:txBody>
      </p:sp>
      <p:sp>
        <p:nvSpPr>
          <p:cNvPr id="20" name="TextBox 19"/>
          <p:cNvSpPr txBox="1"/>
          <p:nvPr/>
        </p:nvSpPr>
        <p:spPr>
          <a:xfrm>
            <a:off x="822959" y="4800599"/>
            <a:ext cx="10820095" cy="548640"/>
          </a:xfrm>
          <a:prstGeom prst="rect">
            <a:avLst/>
          </a:prstGeom>
          <a:noFill/>
        </p:spPr>
        <p:txBody>
          <a:bodyPr wrap="square" anchor="t" lIns="0" rIns="0" tIns="0" bIns="0">
            <a:spAutoFit/>
          </a:bodyPr>
          <a:lstStyle/>
          <a:p>
            <a:pPr algn="l">
              <a:lnSpc>
                <a:spcPct val="100000"/>
              </a:lnSpc>
            </a:pPr>
            <a:r>
              <a:rPr sz="1600" b="1" i="0">
                <a:solidFill>
                  <a:srgbClr val="1B2430"/>
                </a:solidFill>
                <a:latin typeface="Calibri"/>
              </a:rPr>
              <a:t>Group sizes (paper): </a:t>
            </a:r>
            <a:r>
              <a:rPr sz="1600" b="0" i="0">
                <a:solidFill>
                  <a:srgbClr val="6B7684"/>
                </a:solidFill>
                <a:latin typeface="Calibri"/>
              </a:rPr>
              <a:t>5 groups of 14 FewRel relations, 3 groups of 15 WikiZSL relations.</a:t>
            </a:r>
          </a:p>
        </p:txBody>
      </p:sp>
      <p:sp>
        <p:nvSpPr>
          <p:cNvPr id="21" name="Rectangle 20"/>
          <p:cNvSpPr/>
          <p:nvPr/>
        </p:nvSpPr>
        <p:spPr>
          <a:xfrm>
            <a:off x="548640" y="5458967"/>
            <a:ext cx="91440" cy="91440"/>
          </a:xfrm>
          <a:prstGeom prst="rect">
            <a:avLst/>
          </a:prstGeom>
          <a:solidFill>
            <a:srgbClr val="4C8BF5"/>
          </a:solidFill>
          <a:ln>
            <a:noFill/>
          </a:ln>
          <a:effectLst/>
        </p:spPr>
        <p:txBody>
          <a:bodyPr rtlCol="0" anchor="ctr"/>
          <a:lstStyle/>
          <a:p>
            <a:pPr algn="ctr"/>
          </a:p>
        </p:txBody>
      </p:sp>
      <p:sp>
        <p:nvSpPr>
          <p:cNvPr id="22" name="TextBox 21"/>
          <p:cNvSpPr txBox="1"/>
          <p:nvPr/>
        </p:nvSpPr>
        <p:spPr>
          <a:xfrm>
            <a:off x="822959" y="5349239"/>
            <a:ext cx="10820095" cy="548640"/>
          </a:xfrm>
          <a:prstGeom prst="rect">
            <a:avLst/>
          </a:prstGeom>
          <a:noFill/>
        </p:spPr>
        <p:txBody>
          <a:bodyPr wrap="square" anchor="t" lIns="0" rIns="0" tIns="0" bIns="0">
            <a:spAutoFit/>
          </a:bodyPr>
          <a:lstStyle/>
          <a:p>
            <a:pPr algn="l">
              <a:lnSpc>
                <a:spcPct val="100000"/>
              </a:lnSpc>
            </a:pPr>
            <a:r>
              <a:rPr sz="1600" b="1" i="0">
                <a:solidFill>
                  <a:srgbClr val="1B2430"/>
                </a:solidFill>
                <a:latin typeface="Calibri"/>
              </a:rPr>
              <a:t>Not done yet: </a:t>
            </a:r>
            <a:r>
              <a:rPr sz="1600" b="0" i="0">
                <a:solidFill>
                  <a:srgbClr val="6B7684"/>
                </a:solidFill>
                <a:latin typeface="Calibri"/>
              </a:rPr>
              <a:t>finish annotation, REPaL on the arXiv set, LLM-as-a-judge.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